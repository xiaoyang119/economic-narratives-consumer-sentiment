
<file path=[Content_Types].xml><?xml version="1.0" encoding="utf-8"?>
<Types xmlns="http://schemas.openxmlformats.org/package/2006/content-types">
  <Default Extension="xml" ContentType="application/vnd.openxmlformats-package.core-properties+xml"/>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slides/charts/chart1.xml" ContentType="application/vnd.openxmlformats-officedocument.drawingml.chart+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slides/charts/chart2.xml" ContentType="application/vnd.openxmlformats-officedocument.drawingml.chart+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Default Extension="xlsx" ContentType="application/vnd.openxmlformats-officedocument.spreadsheetml.sheet"/>
</Types>
</file>

<file path=_rels/.rels>&#65279;<?xml version="1.0" encoding="utf-8"?><Relationships xmlns="http://schemas.openxmlformats.org/package/2006/relationships"><Relationship Type="http://schemas.openxmlformats.org/package/2006/relationships/metadata/core-properties" Target="/docProps/core.xml" Id="Ref9f3450c9db4631" /><Relationship Type="http://schemas.openxmlformats.org/officeDocument/2006/relationships/extended-properties" Target="/docProps/app.xml" Id="R886ce2ee0f42439f" /><Relationship Type="http://schemas.openxmlformats.org/officeDocument/2006/relationships/officeDocument" Target="/ppt/presentation.xml" Id="R71112777b6914dc8" /></Relationships>
</file>

<file path=ppt/presentation.xml><?xml version="1.0" encoding="utf-8"?>
<p:presentation xmlns:p="http://schemas.openxmlformats.org/presentationml/2006/main">
  <p:sldMasterIdLst>
    <p:sldMasterId xmlns:r="http://schemas.openxmlformats.org/officeDocument/2006/relationships" id="2147483648" r:id="R23512f463cbc497d"/>
  </p:sldMasterIdLst>
  <p:notesMasterIdLst>
    <p:notesMasterId xmlns:r="http://schemas.openxmlformats.org/officeDocument/2006/relationships" r:id="R8e9f59b09c0b4070"/>
  </p:notesMasterIdLst>
  <p:sldIdLst>
    <p:sldId xmlns:r="http://schemas.openxmlformats.org/officeDocument/2006/relationships" id="256" r:id="R651ddefdb36043ca"/>
    <p:sldId xmlns:r="http://schemas.openxmlformats.org/officeDocument/2006/relationships" id="257" r:id="R791d3bab612c446c"/>
    <p:sldId xmlns:r="http://schemas.openxmlformats.org/officeDocument/2006/relationships" id="258" r:id="Rc828dd2979bb4da4"/>
    <p:sldId xmlns:r="http://schemas.openxmlformats.org/officeDocument/2006/relationships" id="259" r:id="Rf15bdf70a884431e"/>
    <p:sldId xmlns:r="http://schemas.openxmlformats.org/officeDocument/2006/relationships" id="260" r:id="R76066edd5c464096"/>
    <p:sldId xmlns:r="http://schemas.openxmlformats.org/officeDocument/2006/relationships" id="261" r:id="R7fadc0e337aa4031"/>
    <p:sldId xmlns:r="http://schemas.openxmlformats.org/officeDocument/2006/relationships" id="262" r:id="R3b4f596c0127486c"/>
    <p:sldId xmlns:r="http://schemas.openxmlformats.org/officeDocument/2006/relationships" id="263" r:id="R76ccaa3f69c0482d"/>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0261f02b3cb841cb" /><Relationship Type="http://schemas.openxmlformats.org/officeDocument/2006/relationships/slideMaster" Target="/ppt/slideMasters/slideMaster1.xml" Id="R23512f463cbc497d" /><Relationship Type="http://schemas.openxmlformats.org/officeDocument/2006/relationships/notesMaster" Target="/ppt/notesMasters/notesMaster1.xml" Id="R8e9f59b09c0b4070" /><Relationship Type="http://schemas.openxmlformats.org/officeDocument/2006/relationships/presProps" Target="/ppt/presProps.xml" Id="Rb9c45c098f034325" /><Relationship Type="http://schemas.openxmlformats.org/officeDocument/2006/relationships/tableStyles" Target="/ppt/tableStyles.xml" Id="Rc7cf2116e44842e5" /><Relationship Type="http://schemas.openxmlformats.org/officeDocument/2006/relationships/slide" Target="/ppt/slides/slide1.xml" Id="R651ddefdb36043ca" /><Relationship Type="http://schemas.openxmlformats.org/officeDocument/2006/relationships/slide" Target="/ppt/slides/slide2.xml" Id="R791d3bab612c446c" /><Relationship Type="http://schemas.openxmlformats.org/officeDocument/2006/relationships/slide" Target="/ppt/slides/slide3.xml" Id="Rc828dd2979bb4da4" /><Relationship Type="http://schemas.openxmlformats.org/officeDocument/2006/relationships/slide" Target="/ppt/slides/slide4.xml" Id="Rf15bdf70a884431e" /><Relationship Type="http://schemas.openxmlformats.org/officeDocument/2006/relationships/slide" Target="/ppt/slides/slide5.xml" Id="R76066edd5c464096" /><Relationship Type="http://schemas.openxmlformats.org/officeDocument/2006/relationships/slide" Target="/ppt/slides/slide6.xml" Id="R7fadc0e337aa4031" /><Relationship Type="http://schemas.openxmlformats.org/officeDocument/2006/relationships/slide" Target="/ppt/slides/slide7.xml" Id="R3b4f596c0127486c" /><Relationship Type="http://schemas.openxmlformats.org/officeDocument/2006/relationships/slide" Target="/ppt/slides/slide8.xml" Id="R76ccaa3f69c0482d"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3479f9d61907482f"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562525fcfce144d9" /><Relationship Type="http://schemas.openxmlformats.org/officeDocument/2006/relationships/notesMaster" Target="/ppt/notesMasters/notesMaster1.xml" Id="Rd5a15885df0a4ebd" /></Relationships>
</file>

<file path=ppt/notesSlides/_rels/notesSlide2.xml.rels>&#65279;<?xml version="1.0" encoding="utf-8"?><Relationships xmlns="http://schemas.openxmlformats.org/package/2006/relationships"><Relationship Type="http://schemas.openxmlformats.org/officeDocument/2006/relationships/slide" Target="/ppt/slides/slide2.xml" Id="Rfbd9aaf737694187" /><Relationship Type="http://schemas.openxmlformats.org/officeDocument/2006/relationships/notesMaster" Target="/ppt/notesMasters/notesMaster1.xml" Id="R79edbdd985744faf" /></Relationships>
</file>

<file path=ppt/notesSlides/_rels/notesSlide3.xml.rels>&#65279;<?xml version="1.0" encoding="utf-8"?><Relationships xmlns="http://schemas.openxmlformats.org/package/2006/relationships"><Relationship Type="http://schemas.openxmlformats.org/officeDocument/2006/relationships/slide" Target="/ppt/slides/slide3.xml" Id="Rfb5a67ba066d425c" /><Relationship Type="http://schemas.openxmlformats.org/officeDocument/2006/relationships/notesMaster" Target="/ppt/notesMasters/notesMaster1.xml" Id="R95aef32123a74c5a" /></Relationships>
</file>

<file path=ppt/notesSlides/_rels/notesSlide4.xml.rels>&#65279;<?xml version="1.0" encoding="utf-8"?><Relationships xmlns="http://schemas.openxmlformats.org/package/2006/relationships"><Relationship Type="http://schemas.openxmlformats.org/officeDocument/2006/relationships/slide" Target="/ppt/slides/slide4.xml" Id="R102163e59bdc47b8" /><Relationship Type="http://schemas.openxmlformats.org/officeDocument/2006/relationships/notesMaster" Target="/ppt/notesMasters/notesMaster1.xml" Id="R90e6791ddbcb453d" /></Relationships>
</file>

<file path=ppt/notesSlides/_rels/notesSlide5.xml.rels>&#65279;<?xml version="1.0" encoding="utf-8"?><Relationships xmlns="http://schemas.openxmlformats.org/package/2006/relationships"><Relationship Type="http://schemas.openxmlformats.org/officeDocument/2006/relationships/slide" Target="/ppt/slides/slide5.xml" Id="R05e86ade903b4634" /><Relationship Type="http://schemas.openxmlformats.org/officeDocument/2006/relationships/notesMaster" Target="/ppt/notesMasters/notesMaster1.xml" Id="R94494454182b4e75" /></Relationships>
</file>

<file path=ppt/notesSlides/_rels/notesSlide6.xml.rels>&#65279;<?xml version="1.0" encoding="utf-8"?><Relationships xmlns="http://schemas.openxmlformats.org/package/2006/relationships"><Relationship Type="http://schemas.openxmlformats.org/officeDocument/2006/relationships/slide" Target="/ppt/slides/slide6.xml" Id="R6bae9e7ab83a440d" /><Relationship Type="http://schemas.openxmlformats.org/officeDocument/2006/relationships/notesMaster" Target="/ppt/notesMasters/notesMaster1.xml" Id="R11828614cdc842bf" /></Relationships>
</file>

<file path=ppt/notesSlides/_rels/notesSlide7.xml.rels>&#65279;<?xml version="1.0" encoding="utf-8"?><Relationships xmlns="http://schemas.openxmlformats.org/package/2006/relationships"><Relationship Type="http://schemas.openxmlformats.org/officeDocument/2006/relationships/slide" Target="/ppt/slides/slide7.xml" Id="Rfa44cd82190e4c6b" /><Relationship Type="http://schemas.openxmlformats.org/officeDocument/2006/relationships/notesMaster" Target="/ppt/notesMasters/notesMaster1.xml" Id="R33e102cc9c1f4aa1" /></Relationships>
</file>

<file path=ppt/notesSlides/_rels/notesSlide8.xml.rels>&#65279;<?xml version="1.0" encoding="utf-8"?><Relationships xmlns="http://schemas.openxmlformats.org/package/2006/relationships"><Relationship Type="http://schemas.openxmlformats.org/officeDocument/2006/relationships/slide" Target="/ppt/slides/slide8.xml" Id="Rf5a04ea9bfa64311" /><Relationship Type="http://schemas.openxmlformats.org/officeDocument/2006/relationships/notesMaster" Target="/ppt/notesMasters/notesMaster1.xml" Id="Rc608d0581755444c"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[About 45 seconds] This project asks whether economic narratives in news and social media help explain consumer sentiment that appears weak relative to headline economic indicators. I treat real household pressure, information framing and model limitations as competing explanations. The strongest finding is that the size of the sentiment gap changes substantially when the forecasting model changes. I completed a historical economic forecast test using genuine data vintages and a recent text-measurement pilot. The media evidence remains insufficient for either a causal claim or a validated claim of no effect. The research cutoff is October fourteenth, before the election. Sources: project assignment; research_report.pdf, pages 1 and 11.</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[About 55 seconds] Before estimating anything, I compared the supplied workbook with official sources. Its August PCE inflation value is about three point zero one percent. Recomputing inflation from the official BEA price index gives three point four two percent. I therefore use official prices and calculate the year-over-year rate within each historical data vintage. The supplied third-quarter GDP number is excluded because its advance release is scheduled after the research cutoff. October consumer sentiment is a valid preliminary reading, rather than a final month-end observation. The missing October twenty twenty-five unemployment observation is a documented survey interruption caused by the federal shutdown. I preserve it rather than interpolate it. Sources: https://www.bea.gov/news/2026/personal-income-and-outlays-august-2026 ; https://www.bea.gov/news/schedule/full ; https://www.bls.gov/news.release/archives/empsit_12162025.htm ; https://www.sca.isr.umich.edu/</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[About 55 seconds] Each forecast targets a calendar month and starts on its first day. Inputs come from the economic snapshot available by the previous day. I collected two hundred and two monthly ALFRED vintages from January twenty ten through October twenty twenty-six, and verified every requested vintage in the downloaded series headers. GDP remains quarterly. The latest released quarter supplies the growth input until the next release. The models train on an expanding window, using only sentiment outcomes already present in that origin vintage. Evaluation begins in twenty eighteen and covers one hundred and five final monthly outcomes. October preliminary sentiment is monitoring data and stays outside the main accuracy scores. The persistence benchmark follows ALFRED distribution availability, which can lag direct Michigan releases. Source: https://alfred.stlouisfed.org/help/downloaddata ; results/model_specifications.json.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[About 60 seconds] This chart compares the same one hundred and five final months. Lower root mean squared error is better. Carrying forward the latest available sentiment reading has an error of four point seven five index points. The three-variable economic model has an error of fourteen point one zero. Adding recent sentiment lowers the economic model error to five point one nine, while household income and accumulated-price controls give five point five four. The simple macro relationship forecasts particularly poorly after the pandemic. This does not show that economic conditions or household pressures are irrelevant. It shows that the chosen linear specification does not extract a stable incremental signal beyond persistence. A six-month block bootstrap also shows a large loss disadvantage for the economic-only specification. Sources: results/forecast_metrics.json ; results/model_comparisons.json.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[About 60 seconds] October preliminary sentiment is forty-six point three. The economic-only forecast is seventy-two point eight five, leaving a negative gap of twenty-six point five five points. With recent sentiment included, the forecast becomes fifty-three point one one and the gap shrinks to six point eight one points. Both observations lie inside the corresponding empirical prediction intervals. The economic-only interval is very wide, from forty-two point two six to one hundred and three point four three. That width signals limited predictive precision. A negative residual is unexplained under the selected model. It is not an estimate of irrationality, misinformation or a causal media contribution. The dashboard lets the reader change models and inspect this dependence directly. Sources: results/forecasts.csv, October 2026 rows.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[About 70 seconds] I collected 316 headlines and Reddit post titles, including national and local news. A stratified subset of 300 received labels from Claude Sonnet5.5 and DeepSeek V41-Flash, using the version names supplied for this project. I temporarily treat each label set as a separate correct reference for scoring. Under the Claude reference, Naive Bayes macro F1 is 0.297 and the dictionary scores 0.385. Under DeepSeek, the scores are 0.235 and 0.395. The dictionary scores higher under both references, reversing the external financial-sentence benchmark ranking. This suggests a domain-transfer or label-definition problem, conditional on reference quality. Both label sets emphasize inflation rates more often than price levels, and national aggregates more often than household conditions. These are descriptions of selected texts. AI reference scores do not constitute independent human validation. Sources: results/ai_reference_evaluation.json; results/ai_label_analysis.json; research_report.pdf pages 7 and 8.</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[About 60 seconds] A separate retrospective test uses the San Francisco Fed historical news sentiment index, with the mean from two calendar months earlier. It changes macro-model RMSE from fourteen point one zero to thirteen point nine two, but changes the stronger dynamic model from five point one nine to five point two three. Full-window block-bootstrap intervals do not establish an improvement. A twenty twenty-one onward sensitivity shows a modest dynamic-model gain, so the result depends on the evaluation window. Historical index vintages were unavailable. These are reconstructed retrospective results, not a verified real-time signal. The own-text pilot remains too short for its own historical comparison and still lacks independent human validation. A causal framing experiment would need randomization, consent and appropriate review. Sources: https://www.frbsf.org/research-and-insights/data-and-indicators/daily-news-sentiment-index/ ; results/news_index_comparison.json ; research_report.pdf pages 4 and 9.</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[About 55 seconds] The practical implication is to benchmark a sentiment-gap signal before using it in financial forecasting or risk monitoring. Show the selected model, the prediction interval and the dates of available inputs next to the residual. The local dashboard provides those views, along with source filters and measurement warnings. The next scheduled survey update is October twenty-third, followed by GDP and PCE releases on October twenty-ninth. Those releases belong in later information sets and must not be backfilled into earlier forecasts. The current evidence does not establish a media-driven sentiment decline. It supports better measurement and a clearer plan for testing that hypothesis. The outstanding human-labeling and longitudinal-media requirements remain visible in the report. Sources: https://www.sca.isr.umich.edu/ ; https://www.bea.gov/news/schedule/full ; research_report.pdf, pages 10 and 11.</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33d1dc2121a9441f" /></Relationships>
</file>

<file path=ppt/slideLayouts/_rels/slideLayout2.xml.rels>&#65279;<?xml version="1.0" encoding="utf-8"?><Relationships xmlns="http://schemas.openxmlformats.org/package/2006/relationships"><Relationship Type="http://schemas.openxmlformats.org/officeDocument/2006/relationships/slideMaster" Target="/ppt/slideMasters/slideMaster1.xml" Id="R5ca83ee8bddb4282" /></Relationships>
</file>

<file path=ppt/slideLayouts/_rels/slideLayout3.xml.rels>&#65279;<?xml version="1.0" encoding="utf-8"?><Relationships xmlns="http://schemas.openxmlformats.org/package/2006/relationships"><Relationship Type="http://schemas.openxmlformats.org/officeDocument/2006/relationships/slideMaster" Target="/ppt/slideMasters/slideMaster1.xml" Id="R355e4956beb34028" /></Relationships>
</file>

<file path=ppt/slideLayouts/_rels/slideLayout4.xml.rels>&#65279;<?xml version="1.0" encoding="utf-8"?><Relationships xmlns="http://schemas.openxmlformats.org/package/2006/relationships"><Relationship Type="http://schemas.openxmlformats.org/officeDocument/2006/relationships/slideMaster" Target="/ppt/slideMasters/slideMaster1.xml" Id="Rb8f5df699389491a" /></Relationships>
</file>

<file path=ppt/slideLayouts/_rels/slideLayout5.xml.rels>&#65279;<?xml version="1.0" encoding="utf-8"?><Relationships xmlns="http://schemas.openxmlformats.org/package/2006/relationships"><Relationship Type="http://schemas.openxmlformats.org/officeDocument/2006/relationships/slideMaster" Target="/ppt/slideMasters/slideMaster1.xml" Id="Rf44a54c986bf4465" /></Relationships>
</file>

<file path=ppt/slideLayouts/_rels/slideLayout6.xml.rels>&#65279;<?xml version="1.0" encoding="utf-8"?><Relationships xmlns="http://schemas.openxmlformats.org/package/2006/relationships"><Relationship Type="http://schemas.openxmlformats.org/officeDocument/2006/relationships/slideMaster" Target="/ppt/slideMasters/slideMaster1.xml" Id="R33227a67bbbb431b"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E3965876-CEBC-46DB-AFFE-C0CC08BDFEE5}"/>
              </a:ext>
            </a:extLst>
          </p:cNvPr>
          <p:cNvSpPr>
            <a:spLocks xmlns:a="http://schemas.openxmlformats.org/drawingml/2006/main" noGrp="1"/>
          </p:cNvSpPr>
          <p:nvPr>
            <p:ph type="title" idx="0"/>
          </p:nvPr>
        </p:nvSpPr>
        <p:spPr>
          <a:xfrm xmlns:a="http://schemas.openxmlformats.org/drawingml/2006/main">
            <a:off x="1219200" y="2590800"/>
            <a:ext cx="9753600" cy="9906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8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2" name="Subtitle">
            <a:extLst xmlns:a="http://schemas.openxmlformats.org/drawingml/2006/main">
              <a:ext uri="{FF2B5EF4-FFF2-40B4-BE49-F238E27FC236}">
                <a16:creationId xmlns:a16="http://schemas.microsoft.com/office/drawing/2014/main" id="{840F86F7-E9AC-40AD-B942-EF0805CEC8D9}"/>
              </a:ext>
            </a:extLst>
          </p:cNvPr>
          <p:cNvSpPr>
            <a:spLocks xmlns:a="http://schemas.openxmlformats.org/drawingml/2006/main" noGrp="1"/>
          </p:cNvSpPr>
          <p:nvPr>
            <p:ph type="subTitle" idx="1"/>
          </p:nvPr>
        </p:nvSpPr>
        <p:spPr>
          <a:xfrm xmlns:a="http://schemas.openxmlformats.org/drawingml/2006/main">
            <a:off x="1828800" y="3771900"/>
            <a:ext cx="8534400" cy="762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2100" b="0">
                <a:solidFill>
                  <a:schemeClr val="tx1"/>
                </a:solidFill>
                <a:latin typeface="+mn-lt"/>
                <a:ea typeface="+mn-lt"/>
                <a:cs typeface="+mn-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Tree>
  </p:cSld>
</p:sldLayout>
</file>

<file path=ppt/slideLayouts/slideLayout2.xml><?xml version="1.0" encoding="utf-8"?>
<p:sldLayout xmlns:p="http://schemas.openxmlformats.org/presentationml/2006/main">
  <p:cSld name="Section Header">
    <p:spTree>
      <p:nvGrpSpPr>
        <p:cNvPr id="1" name=""/>
        <p:cNvGrpSpPr/>
        <p:nvPr/>
      </p:nvGrpSpPr>
      <p:grpSpPr>
        <a:xfrm xmlns:a="http://schemas.openxmlformats.org/drawingml/2006/main"/>
      </p:grpSpPr>
      <p:sp>
        <p:nvSpPr>
          <p:cNvPr id="2" name="Section title">
            <a:extLst xmlns:a="http://schemas.openxmlformats.org/drawingml/2006/main">
              <a:ext uri="{FF2B5EF4-FFF2-40B4-BE49-F238E27FC236}">
                <a16:creationId xmlns:a16="http://schemas.microsoft.com/office/drawing/2014/main" id="{2E31887B-64C8-43F6-AC54-5777A24CBC12}"/>
              </a:ext>
            </a:extLst>
          </p:cNvPr>
          <p:cNvSpPr>
            <a:spLocks xmlns:a="http://schemas.openxmlformats.org/drawingml/2006/main" noGrp="1"/>
          </p:cNvSpPr>
          <p:nvPr>
            <p:ph type="title" idx="0"/>
          </p:nvPr>
        </p:nvSpPr>
        <p:spPr>
          <a:xfrm xmlns:a="http://schemas.openxmlformats.org/drawingml/2006/main">
            <a:off x="1219200" y="2857500"/>
            <a:ext cx="9753600" cy="1143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2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Tree>
  </p:cSld>
</p:sldLayout>
</file>

<file path=ppt/slideLayouts/slideLayout3.xml><?xml version="1.0" encoding="utf-8"?>
<p:sldLayout xmlns:p="http://schemas.openxmlformats.org/presentationml/2006/main">
  <p:cSld name="Title and Body">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299B3878-B77B-445D-AC73-A65D872DB926}"/>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2" name="Body">
            <a:extLst xmlns:a="http://schemas.openxmlformats.org/drawingml/2006/main">
              <a:ext uri="{FF2B5EF4-FFF2-40B4-BE49-F238E27FC236}">
                <a16:creationId xmlns:a16="http://schemas.microsoft.com/office/drawing/2014/main" id="{CA127C58-21C9-41F4-82A6-9D26BA6B99D5}"/>
              </a:ext>
            </a:extLst>
          </p:cNvPr>
          <p:cNvSpPr>
            <a:spLocks xmlns:a="http://schemas.openxmlformats.org/drawingml/2006/main" noGrp="1"/>
          </p:cNvSpPr>
          <p:nvPr>
            <p:ph type="body" idx="1"/>
          </p:nvPr>
        </p:nvSpPr>
        <p:spPr>
          <a:xfrm xmlns:a="http://schemas.openxmlformats.org/drawingml/2006/main">
            <a:off x="685800" y="1905000"/>
            <a:ext cx="108204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xmlns:a="http://schemas.openxmlformats.org/drawingml/2006/main"/>
        </p:txBody>
      </p:sp>
    </p:spTree>
  </p:cSld>
</p:sldLayout>
</file>

<file path=ppt/slideLayouts/slideLayout4.xml><?xml version="1.0" encoding="utf-8"?>
<p:sldLayout xmlns:p="http://schemas.openxmlformats.org/presentationml/2006/main">
  <p:cSld name="Title and Two Column">
    <p:spTree>
      <p:nvGrpSpPr>
        <p:cNvPr id="1" name=""/>
        <p:cNvGrpSpPr/>
        <p:nvPr/>
      </p:nvGrpSpPr>
      <p:grpSpPr>
        <a:xfrm xmlns:a="http://schemas.openxmlformats.org/drawingml/2006/main"/>
      </p:grpSpPr>
      <p:sp>
        <p:nvSpPr>
          <p:cNvPr id="4" name="Title">
            <a:extLst xmlns:a="http://schemas.openxmlformats.org/drawingml/2006/main">
              <a:ext uri="{FF2B5EF4-FFF2-40B4-BE49-F238E27FC236}">
                <a16:creationId xmlns:a16="http://schemas.microsoft.com/office/drawing/2014/main" id="{91CCE21A-6D15-4E57-A6FC-DC8B536EE64A}"/>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696D1576-CA56-4718-B69C-5E3A47F3B0F9}"/>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xmlns:a="http://schemas.openxmlformats.org/drawingml/2006/main"/>
        </p:txBody>
      </p:sp>
      <p:sp>
        <p:nvSpPr>
          <p:cNvPr id="3" name="Right column">
            <a:extLst xmlns:a="http://schemas.openxmlformats.org/drawingml/2006/main">
              <a:ext uri="{FF2B5EF4-FFF2-40B4-BE49-F238E27FC236}">
                <a16:creationId xmlns:a16="http://schemas.microsoft.com/office/drawing/2014/main" id="{720E9F89-7FE3-4EFC-9BED-0EE1B6AA000F}"/>
              </a:ext>
            </a:extLst>
          </p:cNvPr>
          <p:cNvSpPr>
            <a:spLocks xmlns:a="http://schemas.openxmlformats.org/drawingml/2006/main" noGrp="1"/>
          </p:cNvSpPr>
          <p:nvPr>
            <p:ph type="body" idx="2"/>
          </p:nvPr>
        </p:nvSpPr>
        <p:spPr>
          <a:xfrm xmlns:a="http://schemas.openxmlformats.org/drawingml/2006/main">
            <a:off x="64770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xmlns:a="http://schemas.openxmlformats.org/drawingml/2006/main"/>
        </p:txBody>
      </p:sp>
    </p:spTree>
  </p:cSld>
</p:sldLayout>
</file>

<file path=ppt/slideLayouts/slideLayout5.xml><?xml version="1.0" encoding="utf-8"?>
<p:sldLayout xmlns:p="http://schemas.openxmlformats.org/presentationml/2006/main">
  <p:cSld name="Title and One Column">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D69E6F5F-F6F7-4770-9AA4-606889D0C8B4}"/>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62BB26FC-2720-4874-88BC-FFF6A858733D}"/>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xmlns:a="http://schemas.openxmlformats.org/drawingml/2006/main"/>
        </p:txBody>
      </p:sp>
    </p:spTree>
  </p:cSld>
</p:sldLayout>
</file>

<file path=ppt/slideLayouts/slideLayout6.xml><?xml version="1.0" encoding="utf-8"?>
<p:sldLayout xmlns:p="http://schemas.openxmlformats.org/presentationml/2006/main" type="blank">
  <p:cSld name="Blank">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0ae3bd9639374d3b" /><Relationship Type="http://schemas.openxmlformats.org/officeDocument/2006/relationships/slideLayout" Target="/ppt/slideLayouts/slideLayout1.xml" Id="R36804717355b42d8" /><Relationship Type="http://schemas.openxmlformats.org/officeDocument/2006/relationships/slideLayout" Target="/ppt/slideLayouts/slideLayout2.xml" Id="R6780615ad2a54f87" /><Relationship Type="http://schemas.openxmlformats.org/officeDocument/2006/relationships/slideLayout" Target="/ppt/slideLayouts/slideLayout3.xml" Id="R2a10f25f6ddb40bc" /><Relationship Type="http://schemas.openxmlformats.org/officeDocument/2006/relationships/slideLayout" Target="/ppt/slideLayouts/slideLayout4.xml" Id="R23dd2071a8614549" /><Relationship Type="http://schemas.openxmlformats.org/officeDocument/2006/relationships/slideLayout" Target="/ppt/slideLayouts/slideLayout5.xml" Id="R87dbd74fd7c0454b" /><Relationship Type="http://schemas.openxmlformats.org/officeDocument/2006/relationships/slideLayout" Target="/ppt/slideLayouts/slideLayout6.xml" Id="Rdaf6e084c5e24233"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36804717355b42d8"/>
    <p:sldLayoutId xmlns:r="http://schemas.openxmlformats.org/officeDocument/2006/relationships" id="2147483650" r:id="R6780615ad2a54f87"/>
    <p:sldLayoutId xmlns:r="http://schemas.openxmlformats.org/officeDocument/2006/relationships" id="2147483651" r:id="R2a10f25f6ddb40bc"/>
    <p:sldLayoutId xmlns:r="http://schemas.openxmlformats.org/officeDocument/2006/relationships" id="2147483652" r:id="R23dd2071a8614549"/>
    <p:sldLayoutId xmlns:r="http://schemas.openxmlformats.org/officeDocument/2006/relationships" id="2147483653" r:id="R87dbd74fd7c0454b"/>
    <p:sldLayoutId xmlns:r="http://schemas.openxmlformats.org/officeDocument/2006/relationships" id="2147483654" r:id="Rdaf6e084c5e24233"/>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6.xml" Id="R0cbbf0f9efd74cd3" /><Relationship Type="http://schemas.openxmlformats.org/officeDocument/2006/relationships/notesSlide" Target="/ppt/notesSlides/notesSlide1.xml" Id="Rdca19cd3a9754205" /></Relationships>
</file>

<file path=ppt/slides/_rels/slide2.xml.rels>&#65279;<?xml version="1.0" encoding="utf-8"?><Relationships xmlns="http://schemas.openxmlformats.org/package/2006/relationships"><Relationship Type="http://schemas.openxmlformats.org/officeDocument/2006/relationships/slideLayout" Target="/ppt/slideLayouts/slideLayout6.xml" Id="R290059075fb64447" /><Relationship Type="http://schemas.openxmlformats.org/officeDocument/2006/relationships/notesSlide" Target="/ppt/notesSlides/notesSlide2.xml" Id="R10d16fd5073c447a" /></Relationships>
</file>

<file path=ppt/slides/_rels/slide3.xml.rels>&#65279;<?xml version="1.0" encoding="utf-8"?><Relationships xmlns="http://schemas.openxmlformats.org/package/2006/relationships"><Relationship Type="http://schemas.openxmlformats.org/officeDocument/2006/relationships/slideLayout" Target="/ppt/slideLayouts/slideLayout6.xml" Id="Rca2db846ae834b98" /><Relationship Type="http://schemas.openxmlformats.org/officeDocument/2006/relationships/notesSlide" Target="/ppt/notesSlides/notesSlide3.xml" Id="R8e92d20ee0324cf9" /></Relationships>
</file>

<file path=ppt/slides/_rels/slide4.xml.rels>&#65279;<?xml version="1.0" encoding="utf-8"?><Relationships xmlns="http://schemas.openxmlformats.org/package/2006/relationships"><Relationship Type="http://schemas.openxmlformats.org/officeDocument/2006/relationships/slideLayout" Target="/ppt/slideLayouts/slideLayout6.xml" Id="Rc05b4098653840c1" /><Relationship Type="http://schemas.openxmlformats.org/officeDocument/2006/relationships/chart" Target="/ppt/slides/charts/chart1.xml" Id="R2db9a21fd4e842f8" /><Relationship Type="http://schemas.openxmlformats.org/officeDocument/2006/relationships/notesSlide" Target="/ppt/notesSlides/notesSlide4.xml" Id="Rf644b93241734fc0" /></Relationships>
</file>

<file path=ppt/slides/_rels/slide5.xml.rels>&#65279;<?xml version="1.0" encoding="utf-8"?><Relationships xmlns="http://schemas.openxmlformats.org/package/2006/relationships"><Relationship Type="http://schemas.openxmlformats.org/officeDocument/2006/relationships/slideLayout" Target="/ppt/slideLayouts/slideLayout6.xml" Id="R85ceac3ef231489f" /><Relationship Type="http://schemas.openxmlformats.org/officeDocument/2006/relationships/notesSlide" Target="/ppt/notesSlides/notesSlide5.xml" Id="Rb51e673a72a245be" /></Relationships>
</file>

<file path=ppt/slides/_rels/slide6.xml.rels>&#65279;<?xml version="1.0" encoding="utf-8"?><Relationships xmlns="http://schemas.openxmlformats.org/package/2006/relationships"><Relationship Type="http://schemas.openxmlformats.org/officeDocument/2006/relationships/slideLayout" Target="/ppt/slideLayouts/slideLayout6.xml" Id="R0d89d33a2ef74b90" /><Relationship Type="http://schemas.openxmlformats.org/officeDocument/2006/relationships/chart" Target="/ppt/slides/charts/chart2.xml" Id="R7284df2876af4ac9" /><Relationship Type="http://schemas.openxmlformats.org/officeDocument/2006/relationships/notesSlide" Target="/ppt/notesSlides/notesSlide6.xml" Id="R0297e89daa73499f" /></Relationships>
</file>

<file path=ppt/slides/_rels/slide7.xml.rels>&#65279;<?xml version="1.0" encoding="utf-8"?><Relationships xmlns="http://schemas.openxmlformats.org/package/2006/relationships"><Relationship Type="http://schemas.openxmlformats.org/officeDocument/2006/relationships/slideLayout" Target="/ppt/slideLayouts/slideLayout6.xml" Id="Rb0bc689eb1e64378" /><Relationship Type="http://schemas.openxmlformats.org/officeDocument/2006/relationships/notesSlide" Target="/ppt/notesSlides/notesSlide7.xml" Id="R2b3930e12ea440c6" /></Relationships>
</file>

<file path=ppt/slides/_rels/slide8.xml.rels>&#65279;<?xml version="1.0" encoding="utf-8"?><Relationships xmlns="http://schemas.openxmlformats.org/package/2006/relationships"><Relationship Type="http://schemas.openxmlformats.org/officeDocument/2006/relationships/slideLayout" Target="/ppt/slideLayouts/slideLayout6.xml" Id="R74e0be7dab974c32" /><Relationship Type="http://schemas.openxmlformats.org/officeDocument/2006/relationships/notesSlide" Target="/ppt/notesSlides/notesSlide8.xml" Id="R237772b2bbfa465d" /></Relationships>
</file>

<file path=ppt/slides/charts/_rels/chart1.xml.rels><Relationships xmlns="http://schemas.openxmlformats.org/package/2006/relationships"><Relationship Id="rIdChartSnapshot1" Type="http://schemas.openxmlformats.org/officeDocument/2006/relationships/package" Target="../../embeddings/chart-data-snapshot-001.xlsx"/></Relationships>
</file>

<file path=ppt/slides/charts/_rels/chart2.xml.rels><Relationships xmlns="http://schemas.openxmlformats.org/package/2006/relationships"><Relationship Id="rIdChartSnapshot1" Type="http://schemas.openxmlformats.org/officeDocument/2006/relationships/package" Target="../../embeddings/chart-data-snapshot-002.xlsx"/></Relationships>
</file>

<file path=ppt/slides/charts/chart1.xml><?xml version="1.0" encoding="utf-8"?>
<c:chartSpace xmlns:c="http://schemas.openxmlformats.org/drawingml/2006/chart" xmlns:r="http://schemas.openxmlformats.org/officeDocument/2006/relationships">
  <c:lang val="en-US"/>
  <c:chart>
    <c:plotArea>
      <c:barChart>
        <c:barDir val="bar"/>
        <c:grouping val="clustered"/>
        <c:varyColors val="0"/>
        <c:ser>
          <c:idx val="0"/>
          <c:order val="0"/>
          <c:tx>
            <c:v>RMSE</c:v>
          </c:tx>
          <c:spPr>
            <a:solidFill xmlns:a="http://schemas.openxmlformats.org/drawingml/2006/main">
              <a:srgbClr val="00867D"/>
            </a:solidFill>
          </c:spPr>
          <c:invertIfNegative val="0"/>
          <c:cat>
            <c:strRef>
              <c:f>'Chart Data'!$A$2:$A$5</c:f>
              <c:strCache>
                <c:ptCount val="4"/>
                <c:pt idx="0">
                  <c:v>Persistence</c:v>
                </c:pt>
                <c:pt idx="1">
                  <c:v>Economic</c:v>
                </c:pt>
                <c:pt idx="2">
                  <c:v>Economic + sentiment</c:v>
                </c:pt>
                <c:pt idx="3">
                  <c:v>Economic + household controls</c:v>
                </c:pt>
              </c:strCache>
            </c:strRef>
          </c:cat>
          <c:val>
            <c:numRef>
              <c:f>'Chart Data'!$B$2:$B$5</c:f>
              <c:numCache>
                <c:formatCode>General</c:formatCode>
                <c:ptCount val="4"/>
                <c:pt idx="0">
                  <c:v>4.75</c:v>
                </c:pt>
                <c:pt idx="1">
                  <c:v>14.1</c:v>
                </c:pt>
                <c:pt idx="2">
                  <c:v>5.19</c:v>
                </c:pt>
                <c:pt idx="3">
                  <c:v>5.54</c:v>
                </c:pt>
              </c:numCache>
            </c:numRef>
          </c:val>
        </c:ser>
        <c:dLbls>
          <c:numFmt formatCode="0.00" sourceLinked="0"/>
          <c:txPr>
            <a:bodyPr xmlns:a="http://schemas.openxmlformats.org/drawingml/2006/main" anchorCtr="1"/>
            <a:lstStyle xmlns:a="http://schemas.openxmlformats.org/drawingml/2006/main"/>
            <a:p xmlns:a="http://schemas.openxmlformats.org/drawingml/2006/main">
              <a:pPr>
                <a:defRPr sz="1950">
                  <a:latin typeface="Arial"/>
                  <a:ea typeface="Arial"/>
                  <a:cs typeface="Arial"/>
                </a:defRPr>
              </a:pPr>
            </a:p>
          </c:txPr>
          <c:dLblPos val="outEnd"/>
          <c:showLegendKey val="0"/>
          <c:showVal val="1"/>
          <c:showCatName val="0"/>
          <c:showSerName val="0"/>
          <c:showPercent val="0"/>
          <c:showBubbleSize val="0"/>
          <c:showLeaderLines val="0"/>
        </c:dLbls>
        <c:axId val="48650112"/>
        <c:axId val="48672768"/>
      </c:barChart>
      <c:catAx>
        <c:axId val="48650112"/>
        <c:scaling>
          <c:orientation val="minMax"/>
        </c:scaling>
        <c:delete val="0"/>
        <c:axPos val="l"/>
        <c:majorGridlines>
          <c:spPr>
            <a:ln xmlns:a="http://schemas.openxmlformats.org/drawingml/2006/main" w="9525">
              <a:solidFill>
                <a:srgbClr val="DCE4E9"/>
              </a:solidFill>
            </a:ln>
          </c:spPr>
        </c:majorGridlines>
        <c:numFmt formatCode="0.0"/>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650">
                <a:solidFill>
                  <a:srgbClr val="666666"/>
                </a:solidFill>
                <a:latin typeface="Arial"/>
                <a:ea typeface="Arial"/>
                <a:cs typeface="Arial"/>
              </a:defRPr>
            </a:pPr>
          </a:p>
        </c:txPr>
        <c:crossAx val="48672768"/>
      </c:catAx>
      <c:valAx>
        <c:axId val="48672768"/>
        <c:scaling>
          <c:orientation val="minMax"/>
        </c:scaling>
        <c:delete val="0"/>
        <c:axPos val="b"/>
        <c:numFmt formatCode="General"/>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725">
                <a:solidFill>
                  <a:srgbClr val="666666"/>
                </a:solidFill>
                <a:latin typeface="Arial"/>
                <a:ea typeface="Arial"/>
                <a:cs typeface="Arial"/>
              </a:defRPr>
            </a:pPr>
          </a:p>
        </c:txPr>
        <c:crossAx val="48650112"/>
        <c:crossBetween val="between"/>
      </c:valAx>
      <c:spPr>
        <a:solidFill xmlns:a="http://schemas.openxmlformats.org/drawingml/2006/main">
          <a:srgbClr val="FFFFFF"/>
        </a:solidFill>
      </c:spPr>
    </c:plotArea>
    <c:plotVisOnly val="1"/>
  </c:chart>
  <c:spPr>
    <a:solidFill xmlns:a="http://schemas.openxmlformats.org/drawingml/2006/main">
      <a:srgbClr val="FFFFFF"/>
    </a:solidFill>
  </c:spPr>
  <c:externalData r:id="rIdChartSnapshot1">
    <c:autoUpdate val="0"/>
  </c:externalData>
</c:chartSpace>
</file>

<file path=ppt/slides/charts/chart2.xml><?xml version="1.0" encoding="utf-8"?>
<c:chartSpace xmlns:c="http://schemas.openxmlformats.org/drawingml/2006/chart" xmlns:r="http://schemas.openxmlformats.org/officeDocument/2006/relationships">
  <c:lang val="en-US"/>
  <c:chart>
    <c:plotArea>
      <c:barChart>
        <c:barDir val="col"/>
        <c:grouping val="clustered"/>
        <c:varyColors val="0"/>
        <c:ser>
          <c:idx val="0"/>
          <c:order val="0"/>
          <c:tx>
            <c:v>Macro F1</c:v>
          </c:tx>
          <c:spPr>
            <a:solidFill xmlns:a="http://schemas.openxmlformats.org/drawingml/2006/main">
              <a:srgbClr val="00867D"/>
            </a:solidFill>
          </c:spPr>
          <c:invertIfNegative val="0"/>
          <c:cat>
            <c:strRef>
              <c:f>'Chart Data'!$A$2:$A$5</c:f>
              <c:strCache>
                <c:ptCount val="4"/>
                <c:pt idx="0">
                  <c:v>Claude
NB</c:v>
                </c:pt>
                <c:pt idx="1">
                  <c:v>Claude
Dictionary</c:v>
                </c:pt>
                <c:pt idx="2">
                  <c:v>DeepSeek
NB</c:v>
                </c:pt>
                <c:pt idx="3">
                  <c:v>DeepSeek
Dictionary</c:v>
                </c:pt>
              </c:strCache>
            </c:strRef>
          </c:cat>
          <c:val>
            <c:numRef>
              <c:f>'Chart Data'!$B$2:$B$5</c:f>
              <c:numCache>
                <c:formatCode>0.0</c:formatCode>
                <c:ptCount val="4"/>
                <c:pt idx="0">
                  <c:v>0.297</c:v>
                </c:pt>
                <c:pt idx="1">
                  <c:v>0.385</c:v>
                </c:pt>
                <c:pt idx="2">
                  <c:v>0.235</c:v>
                </c:pt>
                <c:pt idx="3">
                  <c:v>0.395</c:v>
                </c:pt>
              </c:numCache>
            </c:numRef>
          </c:val>
        </c:ser>
        <c:dLbls>
          <c:numFmt formatCode="0.000" sourceLinked="0"/>
          <c:txPr>
            <a:bodyPr xmlns:a="http://schemas.openxmlformats.org/drawingml/2006/main" anchorCtr="1"/>
            <a:lstStyle xmlns:a="http://schemas.openxmlformats.org/drawingml/2006/main"/>
            <a:p xmlns:a="http://schemas.openxmlformats.org/drawingml/2006/main">
              <a:pPr>
                <a:defRPr sz="1875">
                  <a:latin typeface="Arial"/>
                  <a:ea typeface="Arial"/>
                  <a:cs typeface="Arial"/>
                </a:defRPr>
              </a:pPr>
            </a:p>
          </c:txPr>
          <c:dLblPos val="outEnd"/>
          <c:showLegendKey val="0"/>
          <c:showVal val="1"/>
          <c:showCatName val="0"/>
          <c:showSerName val="0"/>
          <c:showPercent val="0"/>
          <c:showBubbleSize val="0"/>
          <c:showLeaderLines val="0"/>
        </c:dLbls>
        <c:axId val="48650112"/>
        <c:axId val="48672768"/>
      </c:barChart>
      <c:catAx>
        <c:axId val="48650112"/>
        <c:scaling>
          <c:orientation val="minMax"/>
        </c:scaling>
        <c:delete val="0"/>
        <c:axPos val="b"/>
        <c:numFmt formatCode="General"/>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425">
                <a:solidFill>
                  <a:srgbClr val="666666"/>
                </a:solidFill>
                <a:latin typeface="Arial"/>
                <a:ea typeface="Arial"/>
                <a:cs typeface="Arial"/>
              </a:defRPr>
            </a:pPr>
          </a:p>
        </c:txPr>
        <c:crossAx val="48672768"/>
      </c:catAx>
      <c:valAx>
        <c:axId val="48672768"/>
        <c:scaling>
          <c:orientation val="minMax"/>
          <c:max val="0.5"/>
          <c:min val="0"/>
        </c:scaling>
        <c:delete val="0"/>
        <c:axPos val="l"/>
        <c:majorGridlines>
          <c:spPr>
            <a:ln xmlns:a="http://schemas.openxmlformats.org/drawingml/2006/main" w="9525">
              <a:solidFill>
                <a:srgbClr val="DCE4E9"/>
              </a:solidFill>
            </a:ln>
          </c:spPr>
        </c:majorGridlines>
        <c:numFmt formatCode="0.0"/>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725">
                <a:solidFill>
                  <a:srgbClr val="666666"/>
                </a:solidFill>
                <a:latin typeface="Arial"/>
                <a:ea typeface="Arial"/>
                <a:cs typeface="Arial"/>
              </a:defRPr>
            </a:pPr>
          </a:p>
        </c:txPr>
        <c:crossAx val="48650112"/>
        <c:crossBetween val="between"/>
      </c:valAx>
      <c:spPr>
        <a:solidFill xmlns:a="http://schemas.openxmlformats.org/drawingml/2006/main">
          <a:srgbClr val="FFFFFF"/>
        </a:solidFill>
      </c:spPr>
    </c:plotArea>
    <c:plotVisOnly val="1"/>
  </c:chart>
  <c:spPr>
    <a:solidFill xmlns:a="http://schemas.openxmlformats.org/drawingml/2006/main">
      <a:srgbClr val="FFFFFF"/>
    </a:solidFill>
  </c:spPr>
  <c:externalData r:id="rIdChartSnapshot1">
    <c:autoUpdate val="0"/>
  </c:externalData>
</c:chartSpace>
</file>

<file path=ppt/slides/slide1.xml><?xml version="1.0" encoding="utf-8"?>
<p:sld xmlns:p="http://schemas.openxmlformats.org/presentationml/2006/main">
  <p:cSld>
    <p:bg>
      <p:bgPr>
        <a:solidFill xmlns:a="http://schemas.openxmlformats.org/drawingml/2006/main">
          <a:srgbClr val="18354E"/>
        </a:solidFill>
      </p:bgPr>
    </p:bg>
    <p:spTree>
      <p:nvGrpSpPr>
        <p:cNvPr id="1" name=""/>
        <p:cNvGrpSpPr/>
        <p:nvPr/>
      </p:nvGrpSpPr>
      <p:grpSpPr>
        <a:xfrm xmlns:a="http://schemas.openxmlformats.org/drawingml/2006/main"/>
      </p:grpSpPr>
      <p:sp>
        <p:nvSpPr>
          <p:cNvPr id="4" name="">
            <a:extLst xmlns:a="http://schemas.openxmlformats.org/drawingml/2006/main">
              <a:ext uri="{FF2B5EF4-FFF2-40B4-BE49-F238E27FC236}">
                <a16:creationId xmlns:a16="http://schemas.microsoft.com/office/drawing/2014/main" id="{FFDEFA1B-3E4C-42EE-B1D4-095AE3AD1CA6}"/>
              </a:ext>
            </a:extLst>
          </p:cNvPr>
          <p:cNvSpPr>
            <a:spLocks xmlns:a="http://schemas.openxmlformats.org/drawingml/2006/main" noGrp="1"/>
          </p:cNvSpPr>
          <p:nvPr/>
        </p:nvSpPr>
        <p:spPr>
          <a:xfrm xmlns:a="http://schemas.openxmlformats.org/drawingml/2006/main">
            <a:off x="762000" y="1066800"/>
            <a:ext cx="10572750" cy="1905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4650" b="1">
                <a:solidFill>
                  <a:srgbClr val="FFFFFF"/>
                </a:solidFill>
                <a:latin typeface="Arial"/>
                <a:ea typeface="Arial"/>
                <a:cs typeface="Arial"/>
              </a:defRPr>
            </a:defPPr>
          </a:lstStyle>
          <a:p xmlns:a="http://schemas.openxmlformats.org/drawingml/2006/main">
            <a:pPr>
              <a:defRPr sz="4650" b="1">
                <a:solidFill>
                  <a:srgbClr val="FFFFFF"/>
                </a:solidFill>
                <a:latin typeface="Arial"/>
                <a:ea typeface="Arial"/>
                <a:cs typeface="Arial"/>
              </a:defRPr>
            </a:pPr>
            <a:r>
              <a:rPr sz="4650" b="1">
                <a:solidFill>
                  <a:srgbClr val="FFFFFF"/>
                </a:solidFill>
                <a:latin typeface="Arial"/>
                <a:ea typeface="Arial"/>
                <a:cs typeface="Arial"/>
              </a:rPr>
              <a:t>Economic narratives and</a:t>
            </a:r>
          </a:p>
          <a:p xmlns:a="http://schemas.openxmlformats.org/drawingml/2006/main">
            <a:pPr>
              <a:defRPr sz="4650" b="1">
                <a:solidFill>
                  <a:srgbClr val="FFFFFF"/>
                </a:solidFill>
                <a:latin typeface="Arial"/>
                <a:ea typeface="Arial"/>
                <a:cs typeface="Arial"/>
              </a:defRPr>
            </a:pPr>
            <a:r>
              <a:rPr sz="4650" b="1">
                <a:solidFill>
                  <a:srgbClr val="FFFFFF"/>
                </a:solidFill>
                <a:latin typeface="Arial"/>
                <a:ea typeface="Arial"/>
                <a:cs typeface="Arial"/>
              </a:rPr>
              <a:t>US consumer sentiment</a:t>
            </a:r>
          </a:p>
        </p:txBody>
      </p:sp>
      <p:sp>
        <p:nvSpPr>
          <p:cNvPr id="2" name="">
            <a:extLst xmlns:a="http://schemas.openxmlformats.org/drawingml/2006/main">
              <a:ext uri="{FF2B5EF4-FFF2-40B4-BE49-F238E27FC236}">
                <a16:creationId xmlns:a16="http://schemas.microsoft.com/office/drawing/2014/main" id="{2C387044-7816-46A7-9749-4B71A79720E3}"/>
              </a:ext>
            </a:extLst>
          </p:cNvPr>
          <p:cNvSpPr>
            <a:spLocks xmlns:a="http://schemas.openxmlformats.org/drawingml/2006/main" noGrp="1"/>
          </p:cNvSpPr>
          <p:nvPr/>
        </p:nvSpPr>
        <p:spPr>
          <a:xfrm xmlns:a="http://schemas.openxmlformats.org/drawingml/2006/main">
            <a:off x="781050" y="3286125"/>
            <a:ext cx="1038225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400" b="0">
                <a:solidFill>
                  <a:srgbClr val="A9D8D2"/>
                </a:solidFill>
                <a:latin typeface="Arial"/>
                <a:ea typeface="Arial"/>
                <a:cs typeface="Arial"/>
              </a:defRPr>
            </a:defPPr>
          </a:lstStyle>
          <a:p xmlns:a="http://schemas.openxmlformats.org/drawingml/2006/main">
            <a:pPr>
              <a:defRPr sz="2400" b="0">
                <a:solidFill>
                  <a:srgbClr val="A9D8D2"/>
                </a:solidFill>
                <a:latin typeface="Arial"/>
                <a:ea typeface="Arial"/>
                <a:cs typeface="Arial"/>
              </a:defRPr>
            </a:pPr>
            <a:r>
              <a:rPr sz="2400" b="0">
                <a:solidFill>
                  <a:srgbClr val="A9D8D2"/>
                </a:solidFill>
                <a:latin typeface="Arial"/>
                <a:ea typeface="Arial"/>
                <a:cs typeface="Arial"/>
              </a:rPr>
              <a:t>Evidence before the 2026 midterm elections</a:t>
            </a:r>
          </a:p>
        </p:txBody>
      </p:sp>
      <p:sp>
        <p:nvSpPr>
          <p:cNvPr id="3" name="">
            <a:extLst xmlns:a="http://schemas.openxmlformats.org/drawingml/2006/main">
              <a:ext uri="{FF2B5EF4-FFF2-40B4-BE49-F238E27FC236}">
                <a16:creationId xmlns:a16="http://schemas.microsoft.com/office/drawing/2014/main" id="{B3FF1B60-0EAC-410E-B86B-92E019B3A6E8}"/>
              </a:ext>
            </a:extLst>
          </p:cNvPr>
          <p:cNvSpPr>
            <a:spLocks xmlns:a="http://schemas.openxmlformats.org/drawingml/2006/main" noGrp="1"/>
          </p:cNvSpPr>
          <p:nvPr/>
        </p:nvSpPr>
        <p:spPr>
          <a:xfrm xmlns:a="http://schemas.openxmlformats.org/drawingml/2006/main">
            <a:off x="781050" y="4905375"/>
            <a:ext cx="10001250"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875" b="0">
                <a:solidFill>
                  <a:srgbClr val="DCE6ED"/>
                </a:solidFill>
                <a:latin typeface="Arial"/>
                <a:ea typeface="Arial"/>
                <a:cs typeface="Arial"/>
              </a:defRPr>
            </a:defPPr>
          </a:lstStyle>
          <a:p xmlns:a="http://schemas.openxmlformats.org/drawingml/2006/main">
            <a:pPr>
              <a:defRPr sz="1875" b="0">
                <a:solidFill>
                  <a:srgbClr val="DCE6ED"/>
                </a:solidFill>
                <a:latin typeface="Arial"/>
                <a:ea typeface="Arial"/>
                <a:cs typeface="Arial"/>
              </a:defRPr>
            </a:pPr>
            <a:r>
              <a:rPr sz="1875" b="0">
                <a:solidFill>
                  <a:srgbClr val="DCE6ED"/>
                </a:solidFill>
                <a:latin typeface="Arial"/>
                <a:ea typeface="Arial"/>
                <a:cs typeface="Arial"/>
              </a:rPr>
              <a:t>AI Applications in Finance</a:t>
            </a:r>
          </a:p>
          <a:p xmlns:a="http://schemas.openxmlformats.org/drawingml/2006/main">
            <a:pPr>
              <a:defRPr sz="1875" b="0">
                <a:solidFill>
                  <a:srgbClr val="DCE6ED"/>
                </a:solidFill>
                <a:latin typeface="Arial"/>
                <a:ea typeface="Arial"/>
                <a:cs typeface="Arial"/>
              </a:defRPr>
            </a:pPr>
            <a:r>
              <a:rPr sz="1875" b="0">
                <a:solidFill>
                  <a:srgbClr val="DCE6ED"/>
                </a:solidFill>
                <a:latin typeface="Arial"/>
                <a:ea typeface="Arial"/>
                <a:cs typeface="Arial"/>
              </a:rPr>
              <a:t>Research cutoff 14 October 2026</a:t>
            </a:r>
          </a:p>
        </p:txBody>
      </p:sp>
    </p:spTree>
    <p:extLst>
      <p:ext uri="{BB962C8B-B14F-4D97-AF65-F5344CB8AC3E}">
        <p14:creationId xmlns:p14="http://schemas.microsoft.com/office/powerpoint/2010/main" val="283666108"/>
      </p:ext>
    </p:extLst>
  </p:cSld>
</p:sld>
</file>

<file path=ppt/slides/slide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0" name="">
            <a:extLst xmlns:a="http://schemas.openxmlformats.org/drawingml/2006/main">
              <a:ext uri="{FF2B5EF4-FFF2-40B4-BE49-F238E27FC236}">
                <a16:creationId xmlns:a16="http://schemas.microsoft.com/office/drawing/2014/main" id="{F00A1D49-1783-4F16-88C2-5140D4F03543}"/>
              </a:ext>
            </a:extLst>
          </p:cNvPr>
          <p:cNvSpPr>
            <a:spLocks xmlns:a="http://schemas.openxmlformats.org/drawingml/2006/main" noGrp="1"/>
          </p:cNvSpPr>
          <p:nvPr/>
        </p:nvSpPr>
        <p:spPr>
          <a:xfrm xmlns:a="http://schemas.openxmlformats.org/drawingml/2006/main">
            <a:off x="666750" y="457200"/>
            <a:ext cx="108585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300" b="1">
                <a:solidFill>
                  <a:srgbClr val="18354E"/>
                </a:solidFill>
                <a:latin typeface="Arial"/>
                <a:ea typeface="Arial"/>
                <a:cs typeface="Arial"/>
              </a:defRPr>
            </a:defPPr>
          </a:lstStyle>
          <a:p xmlns:a="http://schemas.openxmlformats.org/drawingml/2006/main">
            <a:pPr>
              <a:defRPr sz="3300" b="1">
                <a:solidFill>
                  <a:srgbClr val="18354E"/>
                </a:solidFill>
                <a:latin typeface="Arial"/>
                <a:ea typeface="Arial"/>
                <a:cs typeface="Arial"/>
              </a:defRPr>
            </a:pPr>
            <a:r>
              <a:rPr sz="3300" b="1">
                <a:solidFill>
                  <a:srgbClr val="18354E"/>
                </a:solidFill>
                <a:latin typeface="Arial"/>
                <a:ea typeface="Arial"/>
                <a:cs typeface="Arial"/>
              </a:rPr>
              <a:t>Economic measurement and timing</a:t>
            </a:r>
          </a:p>
        </p:txBody>
      </p:sp>
      <p:sp>
        <p:nvSpPr>
          <p:cNvPr id="2" name="">
            <a:extLst xmlns:a="http://schemas.openxmlformats.org/drawingml/2006/main">
              <a:ext uri="{FF2B5EF4-FFF2-40B4-BE49-F238E27FC236}">
                <a16:creationId xmlns:a16="http://schemas.microsoft.com/office/drawing/2014/main" id="{C06DCEE3-96FB-4098-A6F8-3D7889C65E6E}"/>
              </a:ext>
            </a:extLst>
          </p:cNvPr>
          <p:cNvSpPr>
            <a:spLocks xmlns:a="http://schemas.openxmlformats.org/drawingml/2006/main" noGrp="1"/>
          </p:cNvSpPr>
          <p:nvPr/>
        </p:nvSpPr>
        <p:spPr>
          <a:xfrm xmlns:a="http://schemas.openxmlformats.org/drawingml/2006/main">
            <a:off x="742950" y="1714500"/>
            <a:ext cx="476250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00" b="1">
                <a:solidFill>
                  <a:srgbClr val="00867D"/>
                </a:solidFill>
                <a:latin typeface="Arial"/>
                <a:ea typeface="Arial"/>
                <a:cs typeface="Arial"/>
              </a:defRPr>
            </a:defPPr>
          </a:lstStyle>
          <a:p xmlns:a="http://schemas.openxmlformats.org/drawingml/2006/main">
            <a:pPr>
              <a:defRPr sz="2100" b="1">
                <a:solidFill>
                  <a:srgbClr val="00867D"/>
                </a:solidFill>
                <a:latin typeface="Arial"/>
                <a:ea typeface="Arial"/>
                <a:cs typeface="Arial"/>
              </a:defRPr>
            </a:pPr>
            <a:r>
              <a:rPr sz="2100" b="1">
                <a:solidFill>
                  <a:srgbClr val="00867D"/>
                </a:solidFill>
                <a:latin typeface="Arial"/>
                <a:ea typeface="Arial"/>
                <a:cs typeface="Arial"/>
              </a:rPr>
              <a:t>PCE inflation</a:t>
            </a:r>
          </a:p>
        </p:txBody>
      </p:sp>
      <p:sp>
        <p:nvSpPr>
          <p:cNvPr id="3" name="">
            <a:extLst xmlns:a="http://schemas.openxmlformats.org/drawingml/2006/main">
              <a:ext uri="{FF2B5EF4-FFF2-40B4-BE49-F238E27FC236}">
                <a16:creationId xmlns:a16="http://schemas.microsoft.com/office/drawing/2014/main" id="{8E5C4ADE-EED5-42DF-BB19-FCE6C9CD2B10}"/>
              </a:ext>
            </a:extLst>
          </p:cNvPr>
          <p:cNvSpPr>
            <a:spLocks xmlns:a="http://schemas.openxmlformats.org/drawingml/2006/main" noGrp="1"/>
          </p:cNvSpPr>
          <p:nvPr/>
        </p:nvSpPr>
        <p:spPr>
          <a:xfrm xmlns:a="http://schemas.openxmlformats.org/drawingml/2006/main">
            <a:off x="742950" y="2219325"/>
            <a:ext cx="504825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475" b="0">
                <a:solidFill>
                  <a:srgbClr val="18354E"/>
                </a:solidFill>
                <a:latin typeface="Arial"/>
                <a:ea typeface="Arial"/>
                <a:cs typeface="Arial"/>
              </a:defRPr>
            </a:defPPr>
          </a:lstStyle>
          <a:p xmlns:a="http://schemas.openxmlformats.org/drawingml/2006/main">
            <a:pPr>
              <a:defRPr sz="2475" b="0">
                <a:solidFill>
                  <a:srgbClr val="18354E"/>
                </a:solidFill>
                <a:latin typeface="Arial"/>
                <a:ea typeface="Arial"/>
                <a:cs typeface="Arial"/>
              </a:defRPr>
            </a:pPr>
            <a:r>
              <a:rPr sz="2475" b="0">
                <a:solidFill>
                  <a:srgbClr val="18354E"/>
                </a:solidFill>
                <a:latin typeface="Arial"/>
                <a:ea typeface="Arial"/>
                <a:cs typeface="Arial"/>
              </a:rPr>
              <a:t>3.01% supplied</a:t>
            </a:r>
          </a:p>
          <a:p xmlns:a="http://schemas.openxmlformats.org/drawingml/2006/main">
            <a:pPr>
              <a:defRPr sz="2475" b="0">
                <a:solidFill>
                  <a:srgbClr val="18354E"/>
                </a:solidFill>
                <a:latin typeface="Arial"/>
                <a:ea typeface="Arial"/>
                <a:cs typeface="Arial"/>
              </a:defRPr>
            </a:pPr>
            <a:r>
              <a:rPr sz="2475" b="0">
                <a:solidFill>
                  <a:srgbClr val="18354E"/>
                </a:solidFill>
                <a:latin typeface="Arial"/>
                <a:ea typeface="Arial"/>
                <a:cs typeface="Arial"/>
              </a:rPr>
              <a:t>3.42% from the official index</a:t>
            </a:r>
          </a:p>
        </p:txBody>
      </p:sp>
      <p:sp>
        <p:nvSpPr>
          <p:cNvPr id="4" name="">
            <a:extLst xmlns:a="http://schemas.openxmlformats.org/drawingml/2006/main">
              <a:ext uri="{FF2B5EF4-FFF2-40B4-BE49-F238E27FC236}">
                <a16:creationId xmlns:a16="http://schemas.microsoft.com/office/drawing/2014/main" id="{465F1067-04C5-4F2B-828B-C04CDEA28833}"/>
              </a:ext>
            </a:extLst>
          </p:cNvPr>
          <p:cNvSpPr>
            <a:spLocks xmlns:a="http://schemas.openxmlformats.org/drawingml/2006/main" noGrp="1"/>
          </p:cNvSpPr>
          <p:nvPr/>
        </p:nvSpPr>
        <p:spPr>
          <a:xfrm xmlns:a="http://schemas.openxmlformats.org/drawingml/2006/main">
            <a:off x="6477000" y="1714500"/>
            <a:ext cx="476250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00" b="1">
                <a:solidFill>
                  <a:srgbClr val="00867D"/>
                </a:solidFill>
                <a:latin typeface="Arial"/>
                <a:ea typeface="Arial"/>
                <a:cs typeface="Arial"/>
              </a:defRPr>
            </a:defPPr>
          </a:lstStyle>
          <a:p xmlns:a="http://schemas.openxmlformats.org/drawingml/2006/main">
            <a:pPr>
              <a:defRPr sz="2100" b="1">
                <a:solidFill>
                  <a:srgbClr val="00867D"/>
                </a:solidFill>
                <a:latin typeface="Arial"/>
                <a:ea typeface="Arial"/>
                <a:cs typeface="Arial"/>
              </a:defRPr>
            </a:pPr>
            <a:r>
              <a:rPr sz="2100" b="1">
                <a:solidFill>
                  <a:srgbClr val="00867D"/>
                </a:solidFill>
                <a:latin typeface="Arial"/>
                <a:ea typeface="Arial"/>
                <a:cs typeface="Arial"/>
              </a:rPr>
              <a:t>GDP availability</a:t>
            </a:r>
          </a:p>
        </p:txBody>
      </p:sp>
      <p:sp>
        <p:nvSpPr>
          <p:cNvPr id="5" name="">
            <a:extLst xmlns:a="http://schemas.openxmlformats.org/drawingml/2006/main">
              <a:ext uri="{FF2B5EF4-FFF2-40B4-BE49-F238E27FC236}">
                <a16:creationId xmlns:a16="http://schemas.microsoft.com/office/drawing/2014/main" id="{B6A36E21-9B38-4A2B-9A3F-D567AF789078}"/>
              </a:ext>
            </a:extLst>
          </p:cNvPr>
          <p:cNvSpPr>
            <a:spLocks xmlns:a="http://schemas.openxmlformats.org/drawingml/2006/main" noGrp="1"/>
          </p:cNvSpPr>
          <p:nvPr/>
        </p:nvSpPr>
        <p:spPr>
          <a:xfrm xmlns:a="http://schemas.openxmlformats.org/drawingml/2006/main">
            <a:off x="6477000" y="2219325"/>
            <a:ext cx="504825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475" b="0">
                <a:solidFill>
                  <a:srgbClr val="18354E"/>
                </a:solidFill>
                <a:latin typeface="Arial"/>
                <a:ea typeface="Arial"/>
                <a:cs typeface="Arial"/>
              </a:defRPr>
            </a:defPPr>
          </a:lstStyle>
          <a:p xmlns:a="http://schemas.openxmlformats.org/drawingml/2006/main">
            <a:pPr>
              <a:defRPr sz="2475" b="0">
                <a:solidFill>
                  <a:srgbClr val="18354E"/>
                </a:solidFill>
                <a:latin typeface="Arial"/>
                <a:ea typeface="Arial"/>
                <a:cs typeface="Arial"/>
              </a:defRPr>
            </a:pPr>
            <a:r>
              <a:rPr sz="2475" b="0">
                <a:solidFill>
                  <a:srgbClr val="18354E"/>
                </a:solidFill>
                <a:latin typeface="Arial"/>
                <a:ea typeface="Arial"/>
                <a:cs typeface="Arial"/>
              </a:rPr>
              <a:t>2026Q3 advance release</a:t>
            </a:r>
          </a:p>
          <a:p xmlns:a="http://schemas.openxmlformats.org/drawingml/2006/main">
            <a:pPr>
              <a:defRPr sz="2475" b="0">
                <a:solidFill>
                  <a:srgbClr val="18354E"/>
                </a:solidFill>
                <a:latin typeface="Arial"/>
                <a:ea typeface="Arial"/>
                <a:cs typeface="Arial"/>
              </a:defRPr>
            </a:pPr>
            <a:r>
              <a:rPr sz="2475" b="0">
                <a:solidFill>
                  <a:srgbClr val="18354E"/>
                </a:solidFill>
                <a:latin typeface="Arial"/>
                <a:ea typeface="Arial"/>
                <a:cs typeface="Arial"/>
              </a:rPr>
              <a:t>29 October, after the cutoff</a:t>
            </a:r>
          </a:p>
        </p:txBody>
      </p:sp>
      <p:sp>
        <p:nvSpPr>
          <p:cNvPr id="6" name="">
            <a:extLst xmlns:a="http://schemas.openxmlformats.org/drawingml/2006/main">
              <a:ext uri="{FF2B5EF4-FFF2-40B4-BE49-F238E27FC236}">
                <a16:creationId xmlns:a16="http://schemas.microsoft.com/office/drawing/2014/main" id="{6718FA8B-2041-4FE9-A85E-BE3AC94EB58B}"/>
              </a:ext>
            </a:extLst>
          </p:cNvPr>
          <p:cNvSpPr>
            <a:spLocks xmlns:a="http://schemas.openxmlformats.org/drawingml/2006/main" noGrp="1"/>
          </p:cNvSpPr>
          <p:nvPr/>
        </p:nvSpPr>
        <p:spPr>
          <a:xfrm xmlns:a="http://schemas.openxmlformats.org/drawingml/2006/main">
            <a:off x="742950" y="3829050"/>
            <a:ext cx="476250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00" b="1">
                <a:solidFill>
                  <a:srgbClr val="00867D"/>
                </a:solidFill>
                <a:latin typeface="Arial"/>
                <a:ea typeface="Arial"/>
                <a:cs typeface="Arial"/>
              </a:defRPr>
            </a:defPPr>
          </a:lstStyle>
          <a:p xmlns:a="http://schemas.openxmlformats.org/drawingml/2006/main">
            <a:pPr>
              <a:defRPr sz="2100" b="1">
                <a:solidFill>
                  <a:srgbClr val="00867D"/>
                </a:solidFill>
                <a:latin typeface="Arial"/>
                <a:ea typeface="Arial"/>
                <a:cs typeface="Arial"/>
              </a:defRPr>
            </a:pPr>
            <a:r>
              <a:rPr sz="2100" b="1">
                <a:solidFill>
                  <a:srgbClr val="00867D"/>
                </a:solidFill>
                <a:latin typeface="Arial"/>
                <a:ea typeface="Arial"/>
                <a:cs typeface="Arial"/>
              </a:rPr>
              <a:t>Survey status</a:t>
            </a:r>
          </a:p>
        </p:txBody>
      </p:sp>
      <p:sp>
        <p:nvSpPr>
          <p:cNvPr id="7" name="">
            <a:extLst xmlns:a="http://schemas.openxmlformats.org/drawingml/2006/main">
              <a:ext uri="{FF2B5EF4-FFF2-40B4-BE49-F238E27FC236}">
                <a16:creationId xmlns:a16="http://schemas.microsoft.com/office/drawing/2014/main" id="{F22FAF50-40B6-4B9A-9CA4-6907A5F076AA}"/>
              </a:ext>
            </a:extLst>
          </p:cNvPr>
          <p:cNvSpPr>
            <a:spLocks xmlns:a="http://schemas.openxmlformats.org/drawingml/2006/main" noGrp="1"/>
          </p:cNvSpPr>
          <p:nvPr/>
        </p:nvSpPr>
        <p:spPr>
          <a:xfrm xmlns:a="http://schemas.openxmlformats.org/drawingml/2006/main">
            <a:off x="742950" y="4333875"/>
            <a:ext cx="504825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250" b="0">
                <a:solidFill>
                  <a:srgbClr val="18354E"/>
                </a:solidFill>
                <a:latin typeface="Arial"/>
                <a:ea typeface="Arial"/>
                <a:cs typeface="Arial"/>
              </a:defRPr>
            </a:defPPr>
          </a:lstStyle>
          <a:p xmlns:a="http://schemas.openxmlformats.org/drawingml/2006/main">
            <a:pPr>
              <a:defRPr sz="2250" b="0">
                <a:solidFill>
                  <a:srgbClr val="18354E"/>
                </a:solidFill>
                <a:latin typeface="Arial"/>
                <a:ea typeface="Arial"/>
                <a:cs typeface="Arial"/>
              </a:defRPr>
            </a:pPr>
            <a:r>
              <a:rPr sz="2250" b="0">
                <a:solidFill>
                  <a:srgbClr val="18354E"/>
                </a:solidFill>
                <a:latin typeface="Arial"/>
                <a:ea typeface="Arial"/>
                <a:cs typeface="Arial"/>
              </a:rPr>
              <a:t>October sentiment 46.3</a:t>
            </a:r>
          </a:p>
          <a:p xmlns:a="http://schemas.openxmlformats.org/drawingml/2006/main">
            <a:pPr>
              <a:defRPr sz="2250" b="0">
                <a:solidFill>
                  <a:srgbClr val="18354E"/>
                </a:solidFill>
                <a:latin typeface="Arial"/>
                <a:ea typeface="Arial"/>
                <a:cs typeface="Arial"/>
              </a:defRPr>
            </a:pPr>
            <a:r>
              <a:rPr sz="2250" b="0">
                <a:solidFill>
                  <a:srgbClr val="18354E"/>
                </a:solidFill>
                <a:latin typeface="Arial"/>
                <a:ea typeface="Arial"/>
                <a:cs typeface="Arial"/>
              </a:rPr>
              <a:t>Preliminary release on 9 October</a:t>
            </a:r>
          </a:p>
        </p:txBody>
      </p:sp>
      <p:sp>
        <p:nvSpPr>
          <p:cNvPr id="8" name="">
            <a:extLst xmlns:a="http://schemas.openxmlformats.org/drawingml/2006/main">
              <a:ext uri="{FF2B5EF4-FFF2-40B4-BE49-F238E27FC236}">
                <a16:creationId xmlns:a16="http://schemas.microsoft.com/office/drawing/2014/main" id="{12C6AB52-E029-4E77-A582-6D5BD5E577F2}"/>
              </a:ext>
            </a:extLst>
          </p:cNvPr>
          <p:cNvSpPr>
            <a:spLocks xmlns:a="http://schemas.openxmlformats.org/drawingml/2006/main" noGrp="1"/>
          </p:cNvSpPr>
          <p:nvPr/>
        </p:nvSpPr>
        <p:spPr>
          <a:xfrm xmlns:a="http://schemas.openxmlformats.org/drawingml/2006/main">
            <a:off x="6477000" y="3829050"/>
            <a:ext cx="476250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00" b="1">
                <a:solidFill>
                  <a:srgbClr val="00867D"/>
                </a:solidFill>
                <a:latin typeface="Arial"/>
                <a:ea typeface="Arial"/>
                <a:cs typeface="Arial"/>
              </a:defRPr>
            </a:defPPr>
          </a:lstStyle>
          <a:p xmlns:a="http://schemas.openxmlformats.org/drawingml/2006/main">
            <a:pPr>
              <a:defRPr sz="2100" b="1">
                <a:solidFill>
                  <a:srgbClr val="00867D"/>
                </a:solidFill>
                <a:latin typeface="Arial"/>
                <a:ea typeface="Arial"/>
                <a:cs typeface="Arial"/>
              </a:defRPr>
            </a:pPr>
            <a:r>
              <a:rPr sz="2100" b="1">
                <a:solidFill>
                  <a:srgbClr val="00867D"/>
                </a:solidFill>
                <a:latin typeface="Arial"/>
                <a:ea typeface="Arial"/>
                <a:cs typeface="Arial"/>
              </a:rPr>
              <a:t>Missing unemployment</a:t>
            </a:r>
          </a:p>
        </p:txBody>
      </p:sp>
      <p:sp>
        <p:nvSpPr>
          <p:cNvPr id="9" name="">
            <a:extLst xmlns:a="http://schemas.openxmlformats.org/drawingml/2006/main">
              <a:ext uri="{FF2B5EF4-FFF2-40B4-BE49-F238E27FC236}">
                <a16:creationId xmlns:a16="http://schemas.microsoft.com/office/drawing/2014/main" id="{554B32E4-F2B5-4EAF-B2C7-1AC48ACCB2BC}"/>
              </a:ext>
            </a:extLst>
          </p:cNvPr>
          <p:cNvSpPr>
            <a:spLocks xmlns:a="http://schemas.openxmlformats.org/drawingml/2006/main" noGrp="1"/>
          </p:cNvSpPr>
          <p:nvPr/>
        </p:nvSpPr>
        <p:spPr>
          <a:xfrm xmlns:a="http://schemas.openxmlformats.org/drawingml/2006/main">
            <a:off x="6477000" y="4333875"/>
            <a:ext cx="504825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250" b="0">
                <a:solidFill>
                  <a:srgbClr val="18354E"/>
                </a:solidFill>
                <a:latin typeface="Arial"/>
                <a:ea typeface="Arial"/>
                <a:cs typeface="Arial"/>
              </a:defRPr>
            </a:defPPr>
          </a:lstStyle>
          <a:p xmlns:a="http://schemas.openxmlformats.org/drawingml/2006/main">
            <a:pPr>
              <a:defRPr sz="2250" b="0">
                <a:solidFill>
                  <a:srgbClr val="18354E"/>
                </a:solidFill>
                <a:latin typeface="Arial"/>
                <a:ea typeface="Arial"/>
                <a:cs typeface="Arial"/>
              </a:defRPr>
            </a:pPr>
            <a:r>
              <a:rPr sz="2250" b="0">
                <a:solidFill>
                  <a:srgbClr val="18354E"/>
                </a:solidFill>
                <a:latin typeface="Arial"/>
                <a:ea typeface="Arial"/>
                <a:cs typeface="Arial"/>
              </a:rPr>
              <a:t>October 2025 survey interruption</a:t>
            </a:r>
          </a:p>
          <a:p xmlns:a="http://schemas.openxmlformats.org/drawingml/2006/main">
            <a:pPr>
              <a:defRPr sz="2250" b="0">
                <a:solidFill>
                  <a:srgbClr val="18354E"/>
                </a:solidFill>
                <a:latin typeface="Arial"/>
                <a:ea typeface="Arial"/>
                <a:cs typeface="Arial"/>
              </a:defRPr>
            </a:pPr>
            <a:r>
              <a:rPr sz="2250" b="0">
                <a:solidFill>
                  <a:srgbClr val="18354E"/>
                </a:solidFill>
                <a:latin typeface="Arial"/>
                <a:ea typeface="Arial"/>
                <a:cs typeface="Arial"/>
              </a:rPr>
              <a:t>No zero fill or interpolation</a:t>
            </a:r>
          </a:p>
        </p:txBody>
      </p:sp>
    </p:spTree>
    <p:extLst>
      <p:ext uri="{BB962C8B-B14F-4D97-AF65-F5344CB8AC3E}">
        <p14:creationId xmlns:p14="http://schemas.microsoft.com/office/powerpoint/2010/main" val="2137385835"/>
      </p:ext>
    </p:extLst>
  </p:cSld>
</p:sld>
</file>

<file path=ppt/slides/slide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72464165-2571-4808-B2B5-4F3A3129CC76}"/>
              </a:ext>
            </a:extLst>
          </p:cNvPr>
          <p:cNvSpPr>
            <a:spLocks xmlns:a="http://schemas.openxmlformats.org/drawingml/2006/main" noGrp="1"/>
          </p:cNvSpPr>
          <p:nvPr/>
        </p:nvSpPr>
        <p:spPr>
          <a:xfrm xmlns:a="http://schemas.openxmlformats.org/drawingml/2006/main">
            <a:off x="666750" y="457200"/>
            <a:ext cx="108585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300" b="1">
                <a:solidFill>
                  <a:srgbClr val="18354E"/>
                </a:solidFill>
                <a:latin typeface="Arial"/>
                <a:ea typeface="Arial"/>
                <a:cs typeface="Arial"/>
              </a:defRPr>
            </a:defPPr>
          </a:lstStyle>
          <a:p xmlns:a="http://schemas.openxmlformats.org/drawingml/2006/main">
            <a:pPr>
              <a:defRPr sz="3300" b="1">
                <a:solidFill>
                  <a:srgbClr val="18354E"/>
                </a:solidFill>
                <a:latin typeface="Arial"/>
                <a:ea typeface="Arial"/>
                <a:cs typeface="Arial"/>
              </a:defRPr>
            </a:pPr>
            <a:r>
              <a:rPr sz="3300" b="1">
                <a:solidFill>
                  <a:srgbClr val="18354E"/>
                </a:solidFill>
                <a:latin typeface="Arial"/>
                <a:ea typeface="Arial"/>
                <a:cs typeface="Arial"/>
              </a:rPr>
              <a:t>Forecasts use information available at each origin</a:t>
            </a:r>
          </a:p>
        </p:txBody>
      </p:sp>
      <p:sp>
        <p:nvSpPr>
          <p:cNvPr id="2" name="">
            <a:extLst xmlns:a="http://schemas.openxmlformats.org/drawingml/2006/main">
              <a:ext uri="{FF2B5EF4-FFF2-40B4-BE49-F238E27FC236}">
                <a16:creationId xmlns:a16="http://schemas.microsoft.com/office/drawing/2014/main" id="{CC7367B2-AECA-474E-A088-9F54827C4A2E}"/>
              </a:ext>
            </a:extLst>
          </p:cNvPr>
          <p:cNvSpPr>
            <a:spLocks xmlns:a="http://schemas.openxmlformats.org/drawingml/2006/main" noGrp="1"/>
          </p:cNvSpPr>
          <p:nvPr/>
        </p:nvSpPr>
        <p:spPr>
          <a:xfrm xmlns:a="http://schemas.openxmlformats.org/drawingml/2006/main">
            <a:off x="762000" y="1762125"/>
            <a:ext cx="2571750" cy="1143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7050" b="1">
                <a:solidFill>
                  <a:srgbClr val="00867D"/>
                </a:solidFill>
                <a:latin typeface="Arial"/>
                <a:ea typeface="Arial"/>
                <a:cs typeface="Arial"/>
              </a:defRPr>
            </a:defPPr>
          </a:lstStyle>
          <a:p xmlns:a="http://schemas.openxmlformats.org/drawingml/2006/main">
            <a:pPr>
              <a:defRPr sz="7050" b="1">
                <a:solidFill>
                  <a:srgbClr val="00867D"/>
                </a:solidFill>
                <a:latin typeface="Arial"/>
                <a:ea typeface="Arial"/>
                <a:cs typeface="Arial"/>
              </a:defRPr>
            </a:pPr>
            <a:r>
              <a:rPr sz="7050" b="1">
                <a:solidFill>
                  <a:srgbClr val="00867D"/>
                </a:solidFill>
                <a:latin typeface="Arial"/>
                <a:ea typeface="Arial"/>
                <a:cs typeface="Arial"/>
              </a:rPr>
              <a:t>202</a:t>
            </a:r>
          </a:p>
        </p:txBody>
      </p:sp>
      <p:sp>
        <p:nvSpPr>
          <p:cNvPr id="3" name="">
            <a:extLst xmlns:a="http://schemas.openxmlformats.org/drawingml/2006/main">
              <a:ext uri="{FF2B5EF4-FFF2-40B4-BE49-F238E27FC236}">
                <a16:creationId xmlns:a16="http://schemas.microsoft.com/office/drawing/2014/main" id="{2A3F1271-3136-4118-9439-093373A43F3A}"/>
              </a:ext>
            </a:extLst>
          </p:cNvPr>
          <p:cNvSpPr>
            <a:spLocks xmlns:a="http://schemas.openxmlformats.org/drawingml/2006/main" noGrp="1"/>
          </p:cNvSpPr>
          <p:nvPr/>
        </p:nvSpPr>
        <p:spPr>
          <a:xfrm xmlns:a="http://schemas.openxmlformats.org/drawingml/2006/main">
            <a:off x="762000" y="3000375"/>
            <a:ext cx="47625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75" b="0">
                <a:solidFill>
                  <a:srgbClr val="18354E"/>
                </a:solidFill>
                <a:latin typeface="Arial"/>
                <a:ea typeface="Arial"/>
                <a:cs typeface="Arial"/>
              </a:defRPr>
            </a:defPPr>
          </a:lstStyle>
          <a:p xmlns:a="http://schemas.openxmlformats.org/drawingml/2006/main">
            <a:pPr>
              <a:defRPr sz="2175" b="0">
                <a:solidFill>
                  <a:srgbClr val="18354E"/>
                </a:solidFill>
                <a:latin typeface="Arial"/>
                <a:ea typeface="Arial"/>
                <a:cs typeface="Arial"/>
              </a:defRPr>
            </a:pPr>
            <a:r>
              <a:rPr sz="2175" b="0">
                <a:solidFill>
                  <a:srgbClr val="18354E"/>
                </a:solidFill>
                <a:latin typeface="Arial"/>
                <a:ea typeface="Arial"/>
                <a:cs typeface="Arial"/>
              </a:rPr>
              <a:t>verified monthly snapshots</a:t>
            </a:r>
          </a:p>
        </p:txBody>
      </p:sp>
      <p:sp>
        <p:nvSpPr>
          <p:cNvPr id="4" name="">
            <a:extLst xmlns:a="http://schemas.openxmlformats.org/drawingml/2006/main">
              <a:ext uri="{FF2B5EF4-FFF2-40B4-BE49-F238E27FC236}">
                <a16:creationId xmlns:a16="http://schemas.microsoft.com/office/drawing/2014/main" id="{312B3293-471B-4FBC-B216-5D99F2DEB9D3}"/>
              </a:ext>
            </a:extLst>
          </p:cNvPr>
          <p:cNvSpPr>
            <a:spLocks xmlns:a="http://schemas.openxmlformats.org/drawingml/2006/main" noGrp="1"/>
          </p:cNvSpPr>
          <p:nvPr/>
        </p:nvSpPr>
        <p:spPr>
          <a:xfrm xmlns:a="http://schemas.openxmlformats.org/drawingml/2006/main">
            <a:off x="6667500" y="1762125"/>
            <a:ext cx="3333750" cy="1143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7050" b="1">
                <a:solidFill>
                  <a:srgbClr val="00867D"/>
                </a:solidFill>
                <a:latin typeface="Arial"/>
                <a:ea typeface="Arial"/>
                <a:cs typeface="Arial"/>
              </a:defRPr>
            </a:defPPr>
          </a:lstStyle>
          <a:p xmlns:a="http://schemas.openxmlformats.org/drawingml/2006/main">
            <a:pPr>
              <a:defRPr sz="7050" b="1">
                <a:solidFill>
                  <a:srgbClr val="00867D"/>
                </a:solidFill>
                <a:latin typeface="Arial"/>
                <a:ea typeface="Arial"/>
                <a:cs typeface="Arial"/>
              </a:defRPr>
            </a:pPr>
            <a:r>
              <a:rPr sz="7050" b="1">
                <a:solidFill>
                  <a:srgbClr val="00867D"/>
                </a:solidFill>
                <a:latin typeface="Arial"/>
                <a:ea typeface="Arial"/>
                <a:cs typeface="Arial"/>
              </a:rPr>
              <a:t>105</a:t>
            </a:r>
          </a:p>
        </p:txBody>
      </p:sp>
      <p:sp>
        <p:nvSpPr>
          <p:cNvPr id="5" name="">
            <a:extLst xmlns:a="http://schemas.openxmlformats.org/drawingml/2006/main">
              <a:ext uri="{FF2B5EF4-FFF2-40B4-BE49-F238E27FC236}">
                <a16:creationId xmlns:a16="http://schemas.microsoft.com/office/drawing/2014/main" id="{690D076A-7F65-4475-8B61-BD54420D4DCD}"/>
              </a:ext>
            </a:extLst>
          </p:cNvPr>
          <p:cNvSpPr>
            <a:spLocks xmlns:a="http://schemas.openxmlformats.org/drawingml/2006/main" noGrp="1"/>
          </p:cNvSpPr>
          <p:nvPr/>
        </p:nvSpPr>
        <p:spPr>
          <a:xfrm xmlns:a="http://schemas.openxmlformats.org/drawingml/2006/main">
            <a:off x="6667500" y="3000375"/>
            <a:ext cx="47625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75" b="0">
                <a:solidFill>
                  <a:srgbClr val="18354E"/>
                </a:solidFill>
                <a:latin typeface="Arial"/>
                <a:ea typeface="Arial"/>
                <a:cs typeface="Arial"/>
              </a:defRPr>
            </a:defPPr>
          </a:lstStyle>
          <a:p xmlns:a="http://schemas.openxmlformats.org/drawingml/2006/main">
            <a:pPr>
              <a:defRPr sz="2175" b="0">
                <a:solidFill>
                  <a:srgbClr val="18354E"/>
                </a:solidFill>
                <a:latin typeface="Arial"/>
                <a:ea typeface="Arial"/>
                <a:cs typeface="Arial"/>
              </a:defRPr>
            </a:pPr>
            <a:r>
              <a:rPr sz="2175" b="0">
                <a:solidFill>
                  <a:srgbClr val="18354E"/>
                </a:solidFill>
                <a:latin typeface="Arial"/>
                <a:ea typeface="Arial"/>
                <a:cs typeface="Arial"/>
              </a:rPr>
              <a:t>final monthly forecast outcomes</a:t>
            </a:r>
          </a:p>
        </p:txBody>
      </p:sp>
      <p:sp>
        <p:nvSpPr>
          <p:cNvPr id="6" name="">
            <a:extLst xmlns:a="http://schemas.openxmlformats.org/drawingml/2006/main">
              <a:ext uri="{FF2B5EF4-FFF2-40B4-BE49-F238E27FC236}">
                <a16:creationId xmlns:a16="http://schemas.microsoft.com/office/drawing/2014/main" id="{6370DF49-2B04-4D64-9F3B-4EF437FB9B88}"/>
              </a:ext>
            </a:extLst>
          </p:cNvPr>
          <p:cNvSpPr>
            <a:spLocks xmlns:a="http://schemas.openxmlformats.org/drawingml/2006/main" noGrp="1"/>
          </p:cNvSpPr>
          <p:nvPr/>
        </p:nvSpPr>
        <p:spPr>
          <a:xfrm xmlns:a="http://schemas.openxmlformats.org/drawingml/2006/main">
            <a:off x="762000" y="4238625"/>
            <a:ext cx="106680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75" b="0">
                <a:solidFill>
                  <a:srgbClr val="18354E"/>
                </a:solidFill>
                <a:latin typeface="Arial"/>
                <a:ea typeface="Arial"/>
                <a:cs typeface="Arial"/>
              </a:defRPr>
            </a:defPPr>
          </a:lstStyle>
          <a:p xmlns:a="http://schemas.openxmlformats.org/drawingml/2006/main">
            <a:pPr>
              <a:defRPr sz="2175" b="0">
                <a:solidFill>
                  <a:srgbClr val="18354E"/>
                </a:solidFill>
                <a:latin typeface="Arial"/>
                <a:ea typeface="Arial"/>
                <a:cs typeface="Arial"/>
              </a:defRPr>
            </a:pPr>
            <a:r>
              <a:rPr sz="2175" b="0">
                <a:solidFill>
                  <a:srgbClr val="18354E"/>
                </a:solidFill>
                <a:latin typeface="Arial"/>
                <a:ea typeface="Arial"/>
                <a:cs typeface="Arial"/>
              </a:rPr>
              <a:t>Estimation begins January 2010</a:t>
            </a:r>
          </a:p>
          <a:p xmlns:a="http://schemas.openxmlformats.org/drawingml/2006/main">
            <a:pPr>
              <a:defRPr sz="2175" b="0">
                <a:solidFill>
                  <a:srgbClr val="18354E"/>
                </a:solidFill>
                <a:latin typeface="Arial"/>
                <a:ea typeface="Arial"/>
                <a:cs typeface="Arial"/>
              </a:defRPr>
            </a:pPr>
            <a:r>
              <a:rPr sz="2175" b="0">
                <a:solidFill>
                  <a:srgbClr val="18354E"/>
                </a:solidFill>
                <a:latin typeface="Arial"/>
                <a:ea typeface="Arial"/>
                <a:cs typeface="Arial"/>
              </a:rPr>
              <a:t>Evaluation January 2018 to September 2026</a:t>
            </a:r>
          </a:p>
        </p:txBody>
      </p:sp>
      <p:sp>
        <p:nvSpPr>
          <p:cNvPr id="7" name="">
            <a:extLst xmlns:a="http://schemas.openxmlformats.org/drawingml/2006/main">
              <a:ext uri="{FF2B5EF4-FFF2-40B4-BE49-F238E27FC236}">
                <a16:creationId xmlns:a16="http://schemas.microsoft.com/office/drawing/2014/main" id="{26BC7B7E-6A2B-46BC-A2CC-37328D1E3231}"/>
              </a:ext>
            </a:extLst>
          </p:cNvPr>
          <p:cNvSpPr>
            <a:spLocks xmlns:a="http://schemas.openxmlformats.org/drawingml/2006/main" noGrp="1"/>
          </p:cNvSpPr>
          <p:nvPr/>
        </p:nvSpPr>
        <p:spPr>
          <a:xfrm xmlns:a="http://schemas.openxmlformats.org/drawingml/2006/main">
            <a:off x="762000" y="5476875"/>
            <a:ext cx="106680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875" b="0">
                <a:solidFill>
                  <a:srgbClr val="5C6D79"/>
                </a:solidFill>
                <a:latin typeface="Arial"/>
                <a:ea typeface="Arial"/>
                <a:cs typeface="Arial"/>
              </a:defRPr>
            </a:defPPr>
          </a:lstStyle>
          <a:p xmlns:a="http://schemas.openxmlformats.org/drawingml/2006/main">
            <a:pPr>
              <a:defRPr sz="1875" b="0">
                <a:solidFill>
                  <a:srgbClr val="5C6D79"/>
                </a:solidFill>
                <a:latin typeface="Arial"/>
                <a:ea typeface="Arial"/>
                <a:cs typeface="Arial"/>
              </a:defRPr>
            </a:pPr>
            <a:r>
              <a:rPr sz="1875" b="0">
                <a:solidFill>
                  <a:srgbClr val="5C6D79"/>
                </a:solidFill>
                <a:latin typeface="Arial"/>
                <a:ea typeface="Arial"/>
                <a:cs typeface="Arial"/>
              </a:rPr>
              <a:t>Training outcomes, predictor revisions and interval calibration</a:t>
            </a:r>
          </a:p>
          <a:p xmlns:a="http://schemas.openxmlformats.org/drawingml/2006/main">
            <a:pPr>
              <a:defRPr sz="1875" b="0">
                <a:solidFill>
                  <a:srgbClr val="5C6D79"/>
                </a:solidFill>
                <a:latin typeface="Arial"/>
                <a:ea typeface="Arial"/>
                <a:cs typeface="Arial"/>
              </a:defRPr>
            </a:pPr>
            <a:r>
              <a:rPr sz="1875" b="0">
                <a:solidFill>
                  <a:srgbClr val="5C6D79"/>
                </a:solidFill>
                <a:latin typeface="Arial"/>
                <a:ea typeface="Arial"/>
                <a:cs typeface="Arial"/>
              </a:rPr>
              <a:t>respect the economic vintage at the forecast origin.</a:t>
            </a:r>
          </a:p>
        </p:txBody>
      </p:sp>
    </p:spTree>
    <p:extLst>
      <p:ext uri="{BB962C8B-B14F-4D97-AF65-F5344CB8AC3E}">
        <p14:creationId xmlns:p14="http://schemas.microsoft.com/office/powerpoint/2010/main" val="1422541685"/>
      </p:ext>
    </p:extLst>
  </p:cSld>
</p:sld>
</file>

<file path=ppt/slides/slide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4" name="">
            <a:extLst xmlns:a="http://schemas.openxmlformats.org/drawingml/2006/main">
              <a:ext uri="{FF2B5EF4-FFF2-40B4-BE49-F238E27FC236}">
                <a16:creationId xmlns:a16="http://schemas.microsoft.com/office/drawing/2014/main" id="{B7F58399-9BBE-4A70-BFE8-798746D22935}"/>
              </a:ext>
            </a:extLst>
          </p:cNvPr>
          <p:cNvSpPr>
            <a:spLocks xmlns:a="http://schemas.openxmlformats.org/drawingml/2006/main" noGrp="1"/>
          </p:cNvSpPr>
          <p:nvPr/>
        </p:nvSpPr>
        <p:spPr>
          <a:xfrm xmlns:a="http://schemas.openxmlformats.org/drawingml/2006/main">
            <a:off x="666750" y="457200"/>
            <a:ext cx="108585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300" b="1">
                <a:solidFill>
                  <a:srgbClr val="18354E"/>
                </a:solidFill>
                <a:latin typeface="Arial"/>
                <a:ea typeface="Arial"/>
                <a:cs typeface="Arial"/>
              </a:defRPr>
            </a:defPPr>
          </a:lstStyle>
          <a:p xmlns:a="http://schemas.openxmlformats.org/drawingml/2006/main">
            <a:pPr>
              <a:defRPr sz="3300" b="1">
                <a:solidFill>
                  <a:srgbClr val="18354E"/>
                </a:solidFill>
                <a:latin typeface="Arial"/>
                <a:ea typeface="Arial"/>
                <a:cs typeface="Arial"/>
              </a:defRPr>
            </a:pPr>
            <a:r>
              <a:rPr sz="3300" b="1">
                <a:solidFill>
                  <a:srgbClr val="18354E"/>
                </a:solidFill>
                <a:latin typeface="Arial"/>
                <a:ea typeface="Arial"/>
                <a:cs typeface="Arial"/>
              </a:rPr>
              <a:t>Persistence outperforms the economic specifications</a:t>
            </a:r>
          </a:p>
        </p:txBody>
      </p:sp>
      <p:graphicFrame>
        <p:nvGraphicFramePr>
          <p:cNvPr id="2" name="Chart">
            <a:extLst xmlns:a="http://schemas.openxmlformats.org/drawingml/2006/main">
              <a:ext uri="{FF2B5EF4-FFF2-40B4-BE49-F238E27FC236}">
                <a16:creationId xmlns:a16="http://schemas.microsoft.com/office/drawing/2014/main" id="{A1CE60E5-464E-40EA-B853-9654D171E915}"/>
              </a:ext>
            </a:extLst>
          </p:cNvPr>
          <p:cNvGraphicFramePr/>
          <p:nvPr/>
        </p:nvGraphicFramePr>
        <p:xfrm>
          <a:off xmlns:a="http://schemas.openxmlformats.org/drawingml/2006/main" x="666750" y="1666875"/>
          <a:ext xmlns:a="http://schemas.openxmlformats.org/drawingml/2006/main" cx="10763250" cy="3476625"/>
        </p:xfrm>
        <a:graphic xmlns:a="http://schemas.openxmlformats.org/drawingml/2006/main">
          <a:graphicData uri="http://schemas.openxmlformats.org/drawingml/2006/chart">
            <c:chart xmlns:r="http://schemas.openxmlformats.org/officeDocument/2006/relationships" xmlns:c="http://schemas.openxmlformats.org/drawingml/2006/chart" r:id="R2db9a21fd4e842f8"/>
          </a:graphicData>
        </a:graphic>
      </p:graphicFrame>
      <p:sp>
        <p:nvSpPr>
          <p:cNvPr id="3" name="">
            <a:extLst xmlns:a="http://schemas.openxmlformats.org/drawingml/2006/main">
              <a:ext uri="{FF2B5EF4-FFF2-40B4-BE49-F238E27FC236}">
                <a16:creationId xmlns:a16="http://schemas.microsoft.com/office/drawing/2014/main" id="{43968DBC-CDE6-45A6-99AA-27AA6B958279}"/>
              </a:ext>
            </a:extLst>
          </p:cNvPr>
          <p:cNvSpPr>
            <a:spLocks xmlns:a="http://schemas.openxmlformats.org/drawingml/2006/main" noGrp="1"/>
          </p:cNvSpPr>
          <p:nvPr/>
        </p:nvSpPr>
        <p:spPr>
          <a:xfrm xmlns:a="http://schemas.openxmlformats.org/drawingml/2006/main">
            <a:off x="762000" y="5619750"/>
            <a:ext cx="104775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950" b="0">
                <a:solidFill>
                  <a:srgbClr val="5C6D79"/>
                </a:solidFill>
                <a:latin typeface="Arial"/>
                <a:ea typeface="Arial"/>
                <a:cs typeface="Arial"/>
              </a:defRPr>
            </a:defPPr>
          </a:lstStyle>
          <a:p xmlns:a="http://schemas.openxmlformats.org/drawingml/2006/main">
            <a:pPr>
              <a:defRPr sz="1950" b="0">
                <a:solidFill>
                  <a:srgbClr val="5C6D79"/>
                </a:solidFill>
                <a:latin typeface="Arial"/>
                <a:ea typeface="Arial"/>
                <a:cs typeface="Arial"/>
              </a:defRPr>
            </a:pPr>
            <a:r>
              <a:rPr sz="1950" b="0">
                <a:solidFill>
                  <a:srgbClr val="5C6D79"/>
                </a:solidFill>
                <a:latin typeface="Arial"/>
                <a:ea typeface="Arial"/>
                <a:cs typeface="Arial"/>
              </a:rPr>
              <a:t>RMSE in Michigan index points. Lower is better.</a:t>
            </a:r>
          </a:p>
        </p:txBody>
      </p:sp>
    </p:spTree>
    <p:extLst>
      <p:ext uri="{BB962C8B-B14F-4D97-AF65-F5344CB8AC3E}">
        <p14:creationId xmlns:p14="http://schemas.microsoft.com/office/powerpoint/2010/main" val="496445804"/>
      </p:ext>
    </p:extLst>
  </p:cSld>
</p:sld>
</file>

<file path=ppt/slides/slide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1" name="">
            <a:extLst xmlns:a="http://schemas.openxmlformats.org/drawingml/2006/main">
              <a:ext uri="{FF2B5EF4-FFF2-40B4-BE49-F238E27FC236}">
                <a16:creationId xmlns:a16="http://schemas.microsoft.com/office/drawing/2014/main" id="{A3A88710-5393-4A61-93A6-0C31F129CDDC}"/>
              </a:ext>
            </a:extLst>
          </p:cNvPr>
          <p:cNvSpPr>
            <a:spLocks xmlns:a="http://schemas.openxmlformats.org/drawingml/2006/main" noGrp="1"/>
          </p:cNvSpPr>
          <p:nvPr/>
        </p:nvSpPr>
        <p:spPr>
          <a:xfrm xmlns:a="http://schemas.openxmlformats.org/drawingml/2006/main">
            <a:off x="666750" y="457200"/>
            <a:ext cx="108585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300" b="1">
                <a:solidFill>
                  <a:srgbClr val="18354E"/>
                </a:solidFill>
                <a:latin typeface="Arial"/>
                <a:ea typeface="Arial"/>
                <a:cs typeface="Arial"/>
              </a:defRPr>
            </a:defPPr>
          </a:lstStyle>
          <a:p xmlns:a="http://schemas.openxmlformats.org/drawingml/2006/main">
            <a:pPr>
              <a:defRPr sz="3300" b="1">
                <a:solidFill>
                  <a:srgbClr val="18354E"/>
                </a:solidFill>
                <a:latin typeface="Arial"/>
                <a:ea typeface="Arial"/>
                <a:cs typeface="Arial"/>
              </a:defRPr>
            </a:pPr>
            <a:r>
              <a:rPr sz="3300" b="1">
                <a:solidFill>
                  <a:srgbClr val="18354E"/>
                </a:solidFill>
                <a:latin typeface="Arial"/>
                <a:ea typeface="Arial"/>
                <a:cs typeface="Arial"/>
              </a:rPr>
              <a:t>The October sentiment gap depends on the model</a:t>
            </a:r>
          </a:p>
        </p:txBody>
      </p:sp>
      <p:sp>
        <p:nvSpPr>
          <p:cNvPr id="2" name="">
            <a:extLst xmlns:a="http://schemas.openxmlformats.org/drawingml/2006/main">
              <a:ext uri="{FF2B5EF4-FFF2-40B4-BE49-F238E27FC236}">
                <a16:creationId xmlns:a16="http://schemas.microsoft.com/office/drawing/2014/main" id="{6360C5CC-907B-42D3-9F71-4D93260CD4BE}"/>
              </a:ext>
            </a:extLst>
          </p:cNvPr>
          <p:cNvSpPr>
            <a:spLocks xmlns:a="http://schemas.openxmlformats.org/drawingml/2006/main" noGrp="1"/>
          </p:cNvSpPr>
          <p:nvPr/>
        </p:nvSpPr>
        <p:spPr>
          <a:xfrm xmlns:a="http://schemas.openxmlformats.org/drawingml/2006/main">
            <a:off x="762000" y="1714500"/>
            <a:ext cx="476250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00" b="1">
                <a:solidFill>
                  <a:srgbClr val="00867D"/>
                </a:solidFill>
                <a:latin typeface="Arial"/>
                <a:ea typeface="Arial"/>
                <a:cs typeface="Arial"/>
              </a:defRPr>
            </a:defPPr>
          </a:lstStyle>
          <a:p xmlns:a="http://schemas.openxmlformats.org/drawingml/2006/main">
            <a:pPr>
              <a:defRPr sz="2100" b="1">
                <a:solidFill>
                  <a:srgbClr val="00867D"/>
                </a:solidFill>
                <a:latin typeface="Arial"/>
                <a:ea typeface="Arial"/>
                <a:cs typeface="Arial"/>
              </a:defRPr>
            </a:pPr>
            <a:r>
              <a:rPr sz="2100" b="1">
                <a:solidFill>
                  <a:srgbClr val="00867D"/>
                </a:solidFill>
                <a:latin typeface="Arial"/>
                <a:ea typeface="Arial"/>
                <a:cs typeface="Arial"/>
              </a:rPr>
              <a:t>Economic model</a:t>
            </a:r>
          </a:p>
        </p:txBody>
      </p:sp>
      <p:sp>
        <p:nvSpPr>
          <p:cNvPr id="3" name="">
            <a:extLst xmlns:a="http://schemas.openxmlformats.org/drawingml/2006/main">
              <a:ext uri="{FF2B5EF4-FFF2-40B4-BE49-F238E27FC236}">
                <a16:creationId xmlns:a16="http://schemas.microsoft.com/office/drawing/2014/main" id="{E8A1723D-79F6-4F09-B80A-E3AEAE1EC877}"/>
              </a:ext>
            </a:extLst>
          </p:cNvPr>
          <p:cNvSpPr>
            <a:spLocks xmlns:a="http://schemas.openxmlformats.org/drawingml/2006/main" noGrp="1"/>
          </p:cNvSpPr>
          <p:nvPr/>
        </p:nvSpPr>
        <p:spPr>
          <a:xfrm xmlns:a="http://schemas.openxmlformats.org/drawingml/2006/main">
            <a:off x="762000" y="2209800"/>
            <a:ext cx="4762500" cy="1190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6900" b="1">
                <a:solidFill>
                  <a:srgbClr val="B4533B"/>
                </a:solidFill>
                <a:latin typeface="Arial"/>
                <a:ea typeface="Arial"/>
                <a:cs typeface="Arial"/>
              </a:defRPr>
            </a:defPPr>
          </a:lstStyle>
          <a:p xmlns:a="http://schemas.openxmlformats.org/drawingml/2006/main">
            <a:pPr>
              <a:defRPr sz="6900" b="1">
                <a:solidFill>
                  <a:srgbClr val="B4533B"/>
                </a:solidFill>
                <a:latin typeface="Arial"/>
                <a:ea typeface="Arial"/>
                <a:cs typeface="Arial"/>
              </a:defRPr>
            </a:pPr>
            <a:r>
              <a:rPr sz="6900" b="1">
                <a:solidFill>
                  <a:srgbClr val="B4533B"/>
                </a:solidFill>
                <a:latin typeface="Arial"/>
                <a:ea typeface="Arial"/>
                <a:cs typeface="Arial"/>
              </a:rPr>
              <a:t>-26.55</a:t>
            </a:r>
          </a:p>
        </p:txBody>
      </p:sp>
      <p:sp>
        <p:nvSpPr>
          <p:cNvPr id="4" name="">
            <a:extLst xmlns:a="http://schemas.openxmlformats.org/drawingml/2006/main">
              <a:ext uri="{FF2B5EF4-FFF2-40B4-BE49-F238E27FC236}">
                <a16:creationId xmlns:a16="http://schemas.microsoft.com/office/drawing/2014/main" id="{F8C2A74C-875E-4C12-85E1-E1EA8B6436E0}"/>
              </a:ext>
            </a:extLst>
          </p:cNvPr>
          <p:cNvSpPr>
            <a:spLocks xmlns:a="http://schemas.openxmlformats.org/drawingml/2006/main" noGrp="1"/>
          </p:cNvSpPr>
          <p:nvPr/>
        </p:nvSpPr>
        <p:spPr>
          <a:xfrm xmlns:a="http://schemas.openxmlformats.org/drawingml/2006/main">
            <a:off x="762000" y="3571875"/>
            <a:ext cx="47625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875" b="0">
                <a:solidFill>
                  <a:srgbClr val="5C6D79"/>
                </a:solidFill>
                <a:latin typeface="Arial"/>
                <a:ea typeface="Arial"/>
                <a:cs typeface="Arial"/>
              </a:defRPr>
            </a:defPPr>
          </a:lstStyle>
          <a:p xmlns:a="http://schemas.openxmlformats.org/drawingml/2006/main">
            <a:pPr>
              <a:defRPr sz="1875" b="0">
                <a:solidFill>
                  <a:srgbClr val="5C6D79"/>
                </a:solidFill>
                <a:latin typeface="Arial"/>
                <a:ea typeface="Arial"/>
                <a:cs typeface="Arial"/>
              </a:defRPr>
            </a:pPr>
            <a:r>
              <a:rPr sz="1875" b="0">
                <a:solidFill>
                  <a:srgbClr val="5C6D79"/>
                </a:solidFill>
                <a:latin typeface="Arial"/>
                <a:ea typeface="Arial"/>
                <a:cs typeface="Arial"/>
              </a:rPr>
              <a:t>Observed minus forecast</a:t>
            </a:r>
          </a:p>
        </p:txBody>
      </p:sp>
      <p:sp>
        <p:nvSpPr>
          <p:cNvPr id="5" name="">
            <a:extLst xmlns:a="http://schemas.openxmlformats.org/drawingml/2006/main">
              <a:ext uri="{FF2B5EF4-FFF2-40B4-BE49-F238E27FC236}">
                <a16:creationId xmlns:a16="http://schemas.microsoft.com/office/drawing/2014/main" id="{B8CFE075-9990-4D65-81F9-CD0867D08E34}"/>
              </a:ext>
            </a:extLst>
          </p:cNvPr>
          <p:cNvSpPr>
            <a:spLocks xmlns:a="http://schemas.openxmlformats.org/drawingml/2006/main" noGrp="1"/>
          </p:cNvSpPr>
          <p:nvPr/>
        </p:nvSpPr>
        <p:spPr>
          <a:xfrm xmlns:a="http://schemas.openxmlformats.org/drawingml/2006/main">
            <a:off x="762000" y="4572000"/>
            <a:ext cx="4953000" cy="904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75" b="0">
                <a:solidFill>
                  <a:srgbClr val="18354E"/>
                </a:solidFill>
                <a:latin typeface="Arial"/>
                <a:ea typeface="Arial"/>
                <a:cs typeface="Arial"/>
              </a:defRPr>
            </a:defPPr>
          </a:lstStyle>
          <a:p xmlns:a="http://schemas.openxmlformats.org/drawingml/2006/main">
            <a:pPr>
              <a:defRPr sz="2175" b="0">
                <a:solidFill>
                  <a:srgbClr val="18354E"/>
                </a:solidFill>
                <a:latin typeface="Arial"/>
                <a:ea typeface="Arial"/>
                <a:cs typeface="Arial"/>
              </a:defRPr>
            </a:pPr>
            <a:r>
              <a:rPr sz="2175" b="0">
                <a:solidFill>
                  <a:srgbClr val="18354E"/>
                </a:solidFill>
                <a:latin typeface="Arial"/>
                <a:ea typeface="Arial"/>
                <a:cs typeface="Arial"/>
              </a:rPr>
              <a:t>95% interval for sentiment</a:t>
            </a:r>
          </a:p>
          <a:p xmlns:a="http://schemas.openxmlformats.org/drawingml/2006/main">
            <a:pPr>
              <a:defRPr sz="2175" b="0">
                <a:solidFill>
                  <a:srgbClr val="18354E"/>
                </a:solidFill>
                <a:latin typeface="Arial"/>
                <a:ea typeface="Arial"/>
                <a:cs typeface="Arial"/>
              </a:defRPr>
            </a:pPr>
            <a:r>
              <a:rPr sz="2175" b="0">
                <a:solidFill>
                  <a:srgbClr val="18354E"/>
                </a:solidFill>
                <a:latin typeface="Arial"/>
                <a:ea typeface="Arial"/>
                <a:cs typeface="Arial"/>
              </a:rPr>
              <a:t>42.26 to 103.43</a:t>
            </a:r>
          </a:p>
        </p:txBody>
      </p:sp>
      <p:sp>
        <p:nvSpPr>
          <p:cNvPr id="6" name="">
            <a:extLst xmlns:a="http://schemas.openxmlformats.org/drawingml/2006/main">
              <a:ext uri="{FF2B5EF4-FFF2-40B4-BE49-F238E27FC236}">
                <a16:creationId xmlns:a16="http://schemas.microsoft.com/office/drawing/2014/main" id="{705913B9-4B2B-4E21-8ED7-8F15B42A471B}"/>
              </a:ext>
            </a:extLst>
          </p:cNvPr>
          <p:cNvSpPr>
            <a:spLocks xmlns:a="http://schemas.openxmlformats.org/drawingml/2006/main" noGrp="1"/>
          </p:cNvSpPr>
          <p:nvPr/>
        </p:nvSpPr>
        <p:spPr>
          <a:xfrm xmlns:a="http://schemas.openxmlformats.org/drawingml/2006/main">
            <a:off x="6477000" y="1714500"/>
            <a:ext cx="476250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00" b="1">
                <a:solidFill>
                  <a:srgbClr val="00867D"/>
                </a:solidFill>
                <a:latin typeface="Arial"/>
                <a:ea typeface="Arial"/>
                <a:cs typeface="Arial"/>
              </a:defRPr>
            </a:defPPr>
          </a:lstStyle>
          <a:p xmlns:a="http://schemas.openxmlformats.org/drawingml/2006/main">
            <a:pPr>
              <a:defRPr sz="2100" b="1">
                <a:solidFill>
                  <a:srgbClr val="00867D"/>
                </a:solidFill>
                <a:latin typeface="Arial"/>
                <a:ea typeface="Arial"/>
                <a:cs typeface="Arial"/>
              </a:defRPr>
            </a:pPr>
            <a:r>
              <a:rPr sz="2100" b="1">
                <a:solidFill>
                  <a:srgbClr val="00867D"/>
                </a:solidFill>
                <a:latin typeface="Arial"/>
                <a:ea typeface="Arial"/>
                <a:cs typeface="Arial"/>
              </a:rPr>
              <a:t>Economic model plus recent sentiment</a:t>
            </a:r>
          </a:p>
        </p:txBody>
      </p:sp>
      <p:sp>
        <p:nvSpPr>
          <p:cNvPr id="7" name="">
            <a:extLst xmlns:a="http://schemas.openxmlformats.org/drawingml/2006/main">
              <a:ext uri="{FF2B5EF4-FFF2-40B4-BE49-F238E27FC236}">
                <a16:creationId xmlns:a16="http://schemas.microsoft.com/office/drawing/2014/main" id="{032F5B39-505F-4EDB-BD12-43521BB97379}"/>
              </a:ext>
            </a:extLst>
          </p:cNvPr>
          <p:cNvSpPr>
            <a:spLocks xmlns:a="http://schemas.openxmlformats.org/drawingml/2006/main" noGrp="1"/>
          </p:cNvSpPr>
          <p:nvPr/>
        </p:nvSpPr>
        <p:spPr>
          <a:xfrm xmlns:a="http://schemas.openxmlformats.org/drawingml/2006/main">
            <a:off x="6477000" y="2209800"/>
            <a:ext cx="4762500" cy="1190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6900" b="1">
                <a:solidFill>
                  <a:srgbClr val="00867D"/>
                </a:solidFill>
                <a:latin typeface="Arial"/>
                <a:ea typeface="Arial"/>
                <a:cs typeface="Arial"/>
              </a:defRPr>
            </a:defPPr>
          </a:lstStyle>
          <a:p xmlns:a="http://schemas.openxmlformats.org/drawingml/2006/main">
            <a:pPr>
              <a:defRPr sz="6900" b="1">
                <a:solidFill>
                  <a:srgbClr val="00867D"/>
                </a:solidFill>
                <a:latin typeface="Arial"/>
                <a:ea typeface="Arial"/>
                <a:cs typeface="Arial"/>
              </a:defRPr>
            </a:pPr>
            <a:r>
              <a:rPr sz="6900" b="1">
                <a:solidFill>
                  <a:srgbClr val="00867D"/>
                </a:solidFill>
                <a:latin typeface="Arial"/>
                <a:ea typeface="Arial"/>
                <a:cs typeface="Arial"/>
              </a:rPr>
              <a:t>-6.81</a:t>
            </a:r>
          </a:p>
        </p:txBody>
      </p:sp>
      <p:sp>
        <p:nvSpPr>
          <p:cNvPr id="8" name="">
            <a:extLst xmlns:a="http://schemas.openxmlformats.org/drawingml/2006/main">
              <a:ext uri="{FF2B5EF4-FFF2-40B4-BE49-F238E27FC236}">
                <a16:creationId xmlns:a16="http://schemas.microsoft.com/office/drawing/2014/main" id="{5A4798B4-C598-47E8-8F62-7FDF85F3ED29}"/>
              </a:ext>
            </a:extLst>
          </p:cNvPr>
          <p:cNvSpPr>
            <a:spLocks xmlns:a="http://schemas.openxmlformats.org/drawingml/2006/main" noGrp="1"/>
          </p:cNvSpPr>
          <p:nvPr/>
        </p:nvSpPr>
        <p:spPr>
          <a:xfrm xmlns:a="http://schemas.openxmlformats.org/drawingml/2006/main">
            <a:off x="6477000" y="3571875"/>
            <a:ext cx="47625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875" b="0">
                <a:solidFill>
                  <a:srgbClr val="5C6D79"/>
                </a:solidFill>
                <a:latin typeface="Arial"/>
                <a:ea typeface="Arial"/>
                <a:cs typeface="Arial"/>
              </a:defRPr>
            </a:defPPr>
          </a:lstStyle>
          <a:p xmlns:a="http://schemas.openxmlformats.org/drawingml/2006/main">
            <a:pPr>
              <a:defRPr sz="1875" b="0">
                <a:solidFill>
                  <a:srgbClr val="5C6D79"/>
                </a:solidFill>
                <a:latin typeface="Arial"/>
                <a:ea typeface="Arial"/>
                <a:cs typeface="Arial"/>
              </a:defRPr>
            </a:pPr>
            <a:r>
              <a:rPr sz="1875" b="0">
                <a:solidFill>
                  <a:srgbClr val="5C6D79"/>
                </a:solidFill>
                <a:latin typeface="Arial"/>
                <a:ea typeface="Arial"/>
                <a:cs typeface="Arial"/>
              </a:rPr>
              <a:t>Observed minus forecast</a:t>
            </a:r>
          </a:p>
        </p:txBody>
      </p:sp>
      <p:sp>
        <p:nvSpPr>
          <p:cNvPr id="9" name="">
            <a:extLst xmlns:a="http://schemas.openxmlformats.org/drawingml/2006/main">
              <a:ext uri="{FF2B5EF4-FFF2-40B4-BE49-F238E27FC236}">
                <a16:creationId xmlns:a16="http://schemas.microsoft.com/office/drawing/2014/main" id="{8E2ABB27-C32E-4BC1-92A7-F456EC2C13F5}"/>
              </a:ext>
            </a:extLst>
          </p:cNvPr>
          <p:cNvSpPr>
            <a:spLocks xmlns:a="http://schemas.openxmlformats.org/drawingml/2006/main" noGrp="1"/>
          </p:cNvSpPr>
          <p:nvPr/>
        </p:nvSpPr>
        <p:spPr>
          <a:xfrm xmlns:a="http://schemas.openxmlformats.org/drawingml/2006/main">
            <a:off x="6477000" y="4572000"/>
            <a:ext cx="4953000" cy="904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75" b="0">
                <a:solidFill>
                  <a:srgbClr val="18354E"/>
                </a:solidFill>
                <a:latin typeface="Arial"/>
                <a:ea typeface="Arial"/>
                <a:cs typeface="Arial"/>
              </a:defRPr>
            </a:defPPr>
          </a:lstStyle>
          <a:p xmlns:a="http://schemas.openxmlformats.org/drawingml/2006/main">
            <a:pPr>
              <a:defRPr sz="2175" b="0">
                <a:solidFill>
                  <a:srgbClr val="18354E"/>
                </a:solidFill>
                <a:latin typeface="Arial"/>
                <a:ea typeface="Arial"/>
                <a:cs typeface="Arial"/>
              </a:defRPr>
            </a:pPr>
            <a:r>
              <a:rPr sz="2175" b="0">
                <a:solidFill>
                  <a:srgbClr val="18354E"/>
                </a:solidFill>
                <a:latin typeface="Arial"/>
                <a:ea typeface="Arial"/>
                <a:cs typeface="Arial"/>
              </a:rPr>
              <a:t>95% interval for sentiment</a:t>
            </a:r>
          </a:p>
          <a:p xmlns:a="http://schemas.openxmlformats.org/drawingml/2006/main">
            <a:pPr>
              <a:defRPr sz="2175" b="0">
                <a:solidFill>
                  <a:srgbClr val="18354E"/>
                </a:solidFill>
                <a:latin typeface="Arial"/>
                <a:ea typeface="Arial"/>
                <a:cs typeface="Arial"/>
              </a:defRPr>
            </a:pPr>
            <a:r>
              <a:rPr sz="2175" b="0">
                <a:solidFill>
                  <a:srgbClr val="18354E"/>
                </a:solidFill>
                <a:latin typeface="Arial"/>
                <a:ea typeface="Arial"/>
                <a:cs typeface="Arial"/>
              </a:rPr>
              <a:t>43.43 to 62.78</a:t>
            </a:r>
          </a:p>
        </p:txBody>
      </p:sp>
      <p:sp>
        <p:nvSpPr>
          <p:cNvPr id="10" name="">
            <a:extLst xmlns:a="http://schemas.openxmlformats.org/drawingml/2006/main">
              <a:ext uri="{FF2B5EF4-FFF2-40B4-BE49-F238E27FC236}">
                <a16:creationId xmlns:a16="http://schemas.microsoft.com/office/drawing/2014/main" id="{260BF946-80C3-4B71-9DE0-6CDF3B329E77}"/>
              </a:ext>
            </a:extLst>
          </p:cNvPr>
          <p:cNvSpPr>
            <a:spLocks xmlns:a="http://schemas.openxmlformats.org/drawingml/2006/main" noGrp="1"/>
          </p:cNvSpPr>
          <p:nvPr/>
        </p:nvSpPr>
        <p:spPr>
          <a:xfrm xmlns:a="http://schemas.openxmlformats.org/drawingml/2006/main">
            <a:off x="762000" y="6048375"/>
            <a:ext cx="106680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725" b="0">
                <a:solidFill>
                  <a:srgbClr val="5C6D79"/>
                </a:solidFill>
                <a:latin typeface="Arial"/>
                <a:ea typeface="Arial"/>
                <a:cs typeface="Arial"/>
              </a:defRPr>
            </a:defPPr>
          </a:lstStyle>
          <a:p xmlns:a="http://schemas.openxmlformats.org/drawingml/2006/main">
            <a:pPr>
              <a:defRPr sz="1725" b="0">
                <a:solidFill>
                  <a:srgbClr val="5C6D79"/>
                </a:solidFill>
                <a:latin typeface="Arial"/>
                <a:ea typeface="Arial"/>
                <a:cs typeface="Arial"/>
              </a:defRPr>
            </a:pPr>
            <a:r>
              <a:rPr sz="1725" b="0">
                <a:solidFill>
                  <a:srgbClr val="5C6D79"/>
                </a:solidFill>
                <a:latin typeface="Arial"/>
                <a:ea typeface="Arial"/>
                <a:cs typeface="Arial"/>
              </a:rPr>
              <a:t>October observed index 46.3 is preliminary and falls inside both intervals.</a:t>
            </a:r>
          </a:p>
        </p:txBody>
      </p:sp>
    </p:spTree>
    <p:extLst>
      <p:ext uri="{BB962C8B-B14F-4D97-AF65-F5344CB8AC3E}">
        <p14:creationId xmlns:p14="http://schemas.microsoft.com/office/powerpoint/2010/main" val="74328730"/>
      </p:ext>
    </p:extLst>
  </p:cSld>
</p:sld>
</file>

<file path=ppt/slides/slide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26546FA5-CA48-40DE-A652-A2D48FFB5F2E}"/>
              </a:ext>
            </a:extLst>
          </p:cNvPr>
          <p:cNvSpPr>
            <a:spLocks xmlns:a="http://schemas.openxmlformats.org/drawingml/2006/main" noGrp="1"/>
          </p:cNvSpPr>
          <p:nvPr/>
        </p:nvSpPr>
        <p:spPr>
          <a:xfrm xmlns:a="http://schemas.openxmlformats.org/drawingml/2006/main">
            <a:off x="666750" y="457200"/>
            <a:ext cx="108585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300" b="1">
                <a:solidFill>
                  <a:srgbClr val="18354E"/>
                </a:solidFill>
                <a:latin typeface="Arial"/>
                <a:ea typeface="Arial"/>
                <a:cs typeface="Arial"/>
              </a:defRPr>
            </a:defPPr>
          </a:lstStyle>
          <a:p xmlns:a="http://schemas.openxmlformats.org/drawingml/2006/main">
            <a:pPr>
              <a:defRPr sz="3300" b="1">
                <a:solidFill>
                  <a:srgbClr val="18354E"/>
                </a:solidFill>
                <a:latin typeface="Arial"/>
                <a:ea typeface="Arial"/>
                <a:cs typeface="Arial"/>
              </a:defRPr>
            </a:pPr>
            <a:r>
              <a:rPr sz="3300" b="1">
                <a:solidFill>
                  <a:srgbClr val="18354E"/>
                </a:solidFill>
                <a:latin typeface="Arial"/>
                <a:ea typeface="Arial"/>
                <a:cs typeface="Arial"/>
              </a:rPr>
              <a:t>Media measurement and AI reference evaluation</a:t>
            </a:r>
          </a:p>
        </p:txBody>
      </p:sp>
      <p:sp>
        <p:nvSpPr>
          <p:cNvPr id="2" name="">
            <a:extLst xmlns:a="http://schemas.openxmlformats.org/drawingml/2006/main">
              <a:ext uri="{FF2B5EF4-FFF2-40B4-BE49-F238E27FC236}">
                <a16:creationId xmlns:a16="http://schemas.microsoft.com/office/drawing/2014/main" id="{A19C6C41-FD98-4A29-B7C7-FA3A9A7EB203}"/>
              </a:ext>
            </a:extLst>
          </p:cNvPr>
          <p:cNvSpPr>
            <a:spLocks xmlns:a="http://schemas.openxmlformats.org/drawingml/2006/main" noGrp="1"/>
          </p:cNvSpPr>
          <p:nvPr/>
        </p:nvSpPr>
        <p:spPr>
          <a:xfrm xmlns:a="http://schemas.openxmlformats.org/drawingml/2006/main">
            <a:off x="742950" y="1666875"/>
            <a:ext cx="41910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900" b="1">
                <a:solidFill>
                  <a:srgbClr val="00867D"/>
                </a:solidFill>
                <a:latin typeface="Arial"/>
                <a:ea typeface="Arial"/>
                <a:cs typeface="Arial"/>
              </a:defRPr>
            </a:defPPr>
          </a:lstStyle>
          <a:p xmlns:a="http://schemas.openxmlformats.org/drawingml/2006/main">
            <a:pPr>
              <a:defRPr sz="3900" b="1">
                <a:solidFill>
                  <a:srgbClr val="00867D"/>
                </a:solidFill>
                <a:latin typeface="Arial"/>
                <a:ea typeface="Arial"/>
                <a:cs typeface="Arial"/>
              </a:defRPr>
            </a:pPr>
            <a:r>
              <a:rPr sz="3900" b="1">
                <a:solidFill>
                  <a:srgbClr val="00867D"/>
                </a:solidFill>
                <a:latin typeface="Arial"/>
                <a:ea typeface="Arial"/>
                <a:cs typeface="Arial"/>
              </a:rPr>
              <a:t>316 items</a:t>
            </a:r>
          </a:p>
        </p:txBody>
      </p:sp>
      <p:sp>
        <p:nvSpPr>
          <p:cNvPr id="3" name="">
            <a:extLst xmlns:a="http://schemas.openxmlformats.org/drawingml/2006/main">
              <a:ext uri="{FF2B5EF4-FFF2-40B4-BE49-F238E27FC236}">
                <a16:creationId xmlns:a16="http://schemas.microsoft.com/office/drawing/2014/main" id="{5E5218C9-88C2-4BEE-A37C-40445163ED2C}"/>
              </a:ext>
            </a:extLst>
          </p:cNvPr>
          <p:cNvSpPr>
            <a:spLocks xmlns:a="http://schemas.openxmlformats.org/drawingml/2006/main" noGrp="1"/>
          </p:cNvSpPr>
          <p:nvPr/>
        </p:nvSpPr>
        <p:spPr>
          <a:xfrm xmlns:a="http://schemas.openxmlformats.org/drawingml/2006/main">
            <a:off x="762000" y="2619375"/>
            <a:ext cx="4191000" cy="1524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325" b="0">
                <a:solidFill>
                  <a:srgbClr val="18354E"/>
                </a:solidFill>
                <a:latin typeface="Arial"/>
                <a:ea typeface="Arial"/>
                <a:cs typeface="Arial"/>
              </a:defRPr>
            </a:defPPr>
          </a:lstStyle>
          <a:p xmlns:a="http://schemas.openxmlformats.org/drawingml/2006/main">
            <a:pPr>
              <a:defRPr sz="2325" b="0">
                <a:solidFill>
                  <a:srgbClr val="18354E"/>
                </a:solidFill>
                <a:latin typeface="Arial"/>
                <a:ea typeface="Arial"/>
                <a:cs typeface="Arial"/>
              </a:defRPr>
            </a:pPr>
            <a:r>
              <a:rPr sz="2325" b="0">
                <a:solidFill>
                  <a:srgbClr val="18354E"/>
                </a:solidFill>
                <a:latin typeface="Arial"/>
                <a:ea typeface="Arial"/>
                <a:cs typeface="Arial"/>
              </a:rPr>
              <a:t>127 national news</a:t>
            </a:r>
          </a:p>
          <a:p xmlns:a="http://schemas.openxmlformats.org/drawingml/2006/main">
            <a:pPr>
              <a:defRPr sz="2325" b="0">
                <a:solidFill>
                  <a:srgbClr val="18354E"/>
                </a:solidFill>
                <a:latin typeface="Arial"/>
                <a:ea typeface="Arial"/>
                <a:cs typeface="Arial"/>
              </a:defRPr>
            </a:pPr>
            <a:r>
              <a:rPr sz="2325" b="0">
                <a:solidFill>
                  <a:srgbClr val="18354E"/>
                </a:solidFill>
                <a:latin typeface="Arial"/>
                <a:ea typeface="Arial"/>
                <a:cs typeface="Arial"/>
              </a:rPr>
              <a:t>33 local news</a:t>
            </a:r>
          </a:p>
          <a:p xmlns:a="http://schemas.openxmlformats.org/drawingml/2006/main">
            <a:pPr>
              <a:defRPr sz="2325" b="0">
                <a:solidFill>
                  <a:srgbClr val="18354E"/>
                </a:solidFill>
                <a:latin typeface="Arial"/>
                <a:ea typeface="Arial"/>
                <a:cs typeface="Arial"/>
              </a:defRPr>
            </a:pPr>
            <a:r>
              <a:rPr sz="2325" b="0">
                <a:solidFill>
                  <a:srgbClr val="18354E"/>
                </a:solidFill>
                <a:latin typeface="Arial"/>
                <a:ea typeface="Arial"/>
                <a:cs typeface="Arial"/>
              </a:rPr>
              <a:t>156 Reddit titles</a:t>
            </a:r>
          </a:p>
        </p:txBody>
      </p:sp>
      <p:sp>
        <p:nvSpPr>
          <p:cNvPr id="4" name="">
            <a:extLst xmlns:a="http://schemas.openxmlformats.org/drawingml/2006/main">
              <a:ext uri="{FF2B5EF4-FFF2-40B4-BE49-F238E27FC236}">
                <a16:creationId xmlns:a16="http://schemas.microsoft.com/office/drawing/2014/main" id="{7855A332-859C-4299-96C8-AEC9BAB7FC51}"/>
              </a:ext>
            </a:extLst>
          </p:cNvPr>
          <p:cNvSpPr>
            <a:spLocks xmlns:a="http://schemas.openxmlformats.org/drawingml/2006/main" noGrp="1"/>
          </p:cNvSpPr>
          <p:nvPr/>
        </p:nvSpPr>
        <p:spPr>
          <a:xfrm xmlns:a="http://schemas.openxmlformats.org/drawingml/2006/main">
            <a:off x="762000" y="4619625"/>
            <a:ext cx="41910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875" b="0">
                <a:solidFill>
                  <a:srgbClr val="5C6D79"/>
                </a:solidFill>
                <a:latin typeface="Arial"/>
                <a:ea typeface="Arial"/>
                <a:cs typeface="Arial"/>
              </a:defRPr>
            </a:defPPr>
          </a:lstStyle>
          <a:p xmlns:a="http://schemas.openxmlformats.org/drawingml/2006/main">
            <a:pPr>
              <a:defRPr sz="1875" b="0">
                <a:solidFill>
                  <a:srgbClr val="5C6D79"/>
                </a:solidFill>
                <a:latin typeface="Arial"/>
                <a:ea typeface="Arial"/>
                <a:cs typeface="Arial"/>
              </a:defRPr>
            </a:pPr>
            <a:r>
              <a:rPr sz="1875" b="0">
                <a:solidFill>
                  <a:srgbClr val="5C6D79"/>
                </a:solidFill>
                <a:latin typeface="Arial"/>
                <a:ea typeface="Arial"/>
                <a:cs typeface="Arial"/>
              </a:rPr>
              <a:t>300 texts with AI reference labels</a:t>
            </a:r>
          </a:p>
          <a:p xmlns:a="http://schemas.openxmlformats.org/drawingml/2006/main">
            <a:pPr>
              <a:defRPr sz="1875" b="0">
                <a:solidFill>
                  <a:srgbClr val="5C6D79"/>
                </a:solidFill>
                <a:latin typeface="Arial"/>
                <a:ea typeface="Arial"/>
                <a:cs typeface="Arial"/>
              </a:defRPr>
            </a:pPr>
            <a:r>
              <a:rPr sz="1875" b="0">
                <a:solidFill>
                  <a:srgbClr val="5C6D79"/>
                </a:solidFill>
                <a:latin typeface="Arial"/>
                <a:ea typeface="Arial"/>
                <a:cs typeface="Arial"/>
              </a:rPr>
              <a:t>Four monthly bins</a:t>
            </a:r>
          </a:p>
        </p:txBody>
      </p:sp>
      <p:graphicFrame>
        <p:nvGraphicFramePr>
          <p:cNvPr id="5" name="Chart">
            <a:extLst xmlns:a="http://schemas.openxmlformats.org/drawingml/2006/main">
              <a:ext uri="{FF2B5EF4-FFF2-40B4-BE49-F238E27FC236}">
                <a16:creationId xmlns:a16="http://schemas.microsoft.com/office/drawing/2014/main" id="{A79E0DF8-BDCD-45AA-AD1B-EA5F45DDB078}"/>
              </a:ext>
            </a:extLst>
          </p:cNvPr>
          <p:cNvGraphicFramePr/>
          <p:nvPr/>
        </p:nvGraphicFramePr>
        <p:xfrm>
          <a:off xmlns:a="http://schemas.openxmlformats.org/drawingml/2006/main" x="5238750" y="1714500"/>
          <a:ext xmlns:a="http://schemas.openxmlformats.org/drawingml/2006/main" cx="6286500" cy="3429000"/>
        </p:xfrm>
        <a:graphic xmlns:a="http://schemas.openxmlformats.org/drawingml/2006/main">
          <a:graphicData uri="http://schemas.openxmlformats.org/drawingml/2006/chart">
            <c:chart xmlns:r="http://schemas.openxmlformats.org/officeDocument/2006/relationships" xmlns:c="http://schemas.openxmlformats.org/drawingml/2006/chart" r:id="R7284df2876af4ac9"/>
          </a:graphicData>
        </a:graphic>
      </p:graphicFrame>
      <p:sp>
        <p:nvSpPr>
          <p:cNvPr id="6" name="">
            <a:extLst xmlns:a="http://schemas.openxmlformats.org/drawingml/2006/main">
              <a:ext uri="{FF2B5EF4-FFF2-40B4-BE49-F238E27FC236}">
                <a16:creationId xmlns:a16="http://schemas.microsoft.com/office/drawing/2014/main" id="{2658A730-7FD8-4D9A-9A15-440127A480BC}"/>
              </a:ext>
            </a:extLst>
          </p:cNvPr>
          <p:cNvSpPr>
            <a:spLocks xmlns:a="http://schemas.openxmlformats.org/drawingml/2006/main" noGrp="1"/>
          </p:cNvSpPr>
          <p:nvPr/>
        </p:nvSpPr>
        <p:spPr>
          <a:xfrm xmlns:a="http://schemas.openxmlformats.org/drawingml/2006/main">
            <a:off x="5238750" y="5572125"/>
            <a:ext cx="638175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800" b="0">
                <a:solidFill>
                  <a:srgbClr val="5C6D79"/>
                </a:solidFill>
                <a:latin typeface="Arial"/>
                <a:ea typeface="Arial"/>
                <a:cs typeface="Arial"/>
              </a:defRPr>
            </a:defPPr>
          </a:lstStyle>
          <a:p xmlns:a="http://schemas.openxmlformats.org/drawingml/2006/main">
            <a:pPr>
              <a:defRPr sz="1800" b="0">
                <a:solidFill>
                  <a:srgbClr val="5C6D79"/>
                </a:solidFill>
                <a:latin typeface="Arial"/>
                <a:ea typeface="Arial"/>
                <a:cs typeface="Arial"/>
              </a:defRPr>
            </a:pPr>
            <a:r>
              <a:rPr sz="1800" b="0">
                <a:solidFill>
                  <a:srgbClr val="5C6D79"/>
                </a:solidFill>
                <a:latin typeface="Arial"/>
                <a:ea typeface="Arial"/>
                <a:cs typeface="Arial"/>
              </a:rPr>
              <a:t>Scores use provisional AI references.</a:t>
            </a:r>
          </a:p>
          <a:p xmlns:a="http://schemas.openxmlformats.org/drawingml/2006/main">
            <a:pPr>
              <a:defRPr sz="1800" b="0">
                <a:solidFill>
                  <a:srgbClr val="5C6D79"/>
                </a:solidFill>
                <a:latin typeface="Arial"/>
                <a:ea typeface="Arial"/>
                <a:cs typeface="Arial"/>
              </a:defRPr>
            </a:pPr>
            <a:r>
              <a:rPr sz="1800" b="0">
                <a:solidFill>
                  <a:srgbClr val="5C6D79"/>
                </a:solidFill>
                <a:latin typeface="Arial"/>
                <a:ea typeface="Arial"/>
                <a:cs typeface="Arial"/>
              </a:rPr>
              <a:t>Independent human validation remains incomplete.</a:t>
            </a:r>
          </a:p>
        </p:txBody>
      </p:sp>
    </p:spTree>
    <p:extLst>
      <p:ext uri="{BB962C8B-B14F-4D97-AF65-F5344CB8AC3E}">
        <p14:creationId xmlns:p14="http://schemas.microsoft.com/office/powerpoint/2010/main" val="168466471"/>
      </p:ext>
    </p:extLst>
  </p:cSld>
</p:sld>
</file>

<file path=ppt/slides/slide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B89EEC8E-13C5-4C11-BCD1-1115B19B0F52}"/>
              </a:ext>
            </a:extLst>
          </p:cNvPr>
          <p:cNvSpPr>
            <a:spLocks xmlns:a="http://schemas.openxmlformats.org/drawingml/2006/main" noGrp="1"/>
          </p:cNvSpPr>
          <p:nvPr/>
        </p:nvSpPr>
        <p:spPr>
          <a:xfrm xmlns:a="http://schemas.openxmlformats.org/drawingml/2006/main">
            <a:off x="666750" y="457200"/>
            <a:ext cx="108585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300" b="1">
                <a:solidFill>
                  <a:srgbClr val="18354E"/>
                </a:solidFill>
                <a:latin typeface="Arial"/>
                <a:ea typeface="Arial"/>
                <a:cs typeface="Arial"/>
              </a:defRPr>
            </a:defPPr>
          </a:lstStyle>
          <a:p xmlns:a="http://schemas.openxmlformats.org/drawingml/2006/main">
            <a:pPr>
              <a:defRPr sz="3300" b="1">
                <a:solidFill>
                  <a:srgbClr val="18354E"/>
                </a:solidFill>
                <a:latin typeface="Arial"/>
                <a:ea typeface="Arial"/>
                <a:cs typeface="Arial"/>
              </a:defRPr>
            </a:pPr>
            <a:r>
              <a:rPr sz="3300" b="1">
                <a:solidFill>
                  <a:srgbClr val="18354E"/>
                </a:solidFill>
                <a:latin typeface="Arial"/>
                <a:ea typeface="Arial"/>
                <a:cs typeface="Arial"/>
              </a:rPr>
              <a:t>Historical news sentiment adds no stable forecast gain</a:t>
            </a:r>
          </a:p>
        </p:txBody>
      </p:sp>
      <p:sp>
        <p:nvSpPr>
          <p:cNvPr id="2" name="">
            <a:extLst xmlns:a="http://schemas.openxmlformats.org/drawingml/2006/main">
              <a:ext uri="{FF2B5EF4-FFF2-40B4-BE49-F238E27FC236}">
                <a16:creationId xmlns:a16="http://schemas.microsoft.com/office/drawing/2014/main" id="{012E8B6F-8691-4399-8F2D-C681B3718634}"/>
              </a:ext>
            </a:extLst>
          </p:cNvPr>
          <p:cNvSpPr>
            <a:spLocks xmlns:a="http://schemas.openxmlformats.org/drawingml/2006/main" noGrp="1"/>
          </p:cNvSpPr>
          <p:nvPr/>
        </p:nvSpPr>
        <p:spPr>
          <a:xfrm xmlns:a="http://schemas.openxmlformats.org/drawingml/2006/main">
            <a:off x="762000" y="1714500"/>
            <a:ext cx="476250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00" b="1">
                <a:solidFill>
                  <a:srgbClr val="00867D"/>
                </a:solidFill>
                <a:latin typeface="Arial"/>
                <a:ea typeface="Arial"/>
                <a:cs typeface="Arial"/>
              </a:defRPr>
            </a:defPPr>
          </a:lstStyle>
          <a:p xmlns:a="http://schemas.openxmlformats.org/drawingml/2006/main">
            <a:pPr>
              <a:defRPr sz="2100" b="1">
                <a:solidFill>
                  <a:srgbClr val="00867D"/>
                </a:solidFill>
                <a:latin typeface="Arial"/>
                <a:ea typeface="Arial"/>
                <a:cs typeface="Arial"/>
              </a:defRPr>
            </a:pPr>
            <a:r>
              <a:rPr sz="2100" b="1">
                <a:solidFill>
                  <a:srgbClr val="00867D"/>
                </a:solidFill>
                <a:latin typeface="Arial"/>
                <a:ea typeface="Arial"/>
                <a:cs typeface="Arial"/>
              </a:rPr>
              <a:t>Macro model with the news index</a:t>
            </a:r>
          </a:p>
        </p:txBody>
      </p:sp>
      <p:sp>
        <p:nvSpPr>
          <p:cNvPr id="3" name="">
            <a:extLst xmlns:a="http://schemas.openxmlformats.org/drawingml/2006/main">
              <a:ext uri="{FF2B5EF4-FFF2-40B4-BE49-F238E27FC236}">
                <a16:creationId xmlns:a16="http://schemas.microsoft.com/office/drawing/2014/main" id="{3F9036CA-1428-4A29-8922-BC1BB28E6A5E}"/>
              </a:ext>
            </a:extLst>
          </p:cNvPr>
          <p:cNvSpPr>
            <a:spLocks xmlns:a="http://schemas.openxmlformats.org/drawingml/2006/main" noGrp="1"/>
          </p:cNvSpPr>
          <p:nvPr/>
        </p:nvSpPr>
        <p:spPr>
          <a:xfrm xmlns:a="http://schemas.openxmlformats.org/drawingml/2006/main">
            <a:off x="762000" y="2400300"/>
            <a:ext cx="5048250" cy="1095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4200" b="1">
                <a:solidFill>
                  <a:srgbClr val="00867D"/>
                </a:solidFill>
                <a:latin typeface="Arial"/>
                <a:ea typeface="Arial"/>
                <a:cs typeface="Arial"/>
              </a:defRPr>
            </a:defPPr>
          </a:lstStyle>
          <a:p xmlns:a="http://schemas.openxmlformats.org/drawingml/2006/main">
            <a:pPr>
              <a:defRPr sz="4200" b="1">
                <a:solidFill>
                  <a:srgbClr val="00867D"/>
                </a:solidFill>
                <a:latin typeface="Arial"/>
                <a:ea typeface="Arial"/>
                <a:cs typeface="Arial"/>
              </a:defRPr>
            </a:pPr>
            <a:r>
              <a:rPr sz="4200" b="1">
                <a:solidFill>
                  <a:srgbClr val="00867D"/>
                </a:solidFill>
                <a:latin typeface="Arial"/>
                <a:ea typeface="Arial"/>
                <a:cs typeface="Arial"/>
              </a:rPr>
              <a:t>14.10 to 13.92</a:t>
            </a:r>
          </a:p>
        </p:txBody>
      </p:sp>
      <p:sp>
        <p:nvSpPr>
          <p:cNvPr id="4" name="">
            <a:extLst xmlns:a="http://schemas.openxmlformats.org/drawingml/2006/main">
              <a:ext uri="{FF2B5EF4-FFF2-40B4-BE49-F238E27FC236}">
                <a16:creationId xmlns:a16="http://schemas.microsoft.com/office/drawing/2014/main" id="{3951819C-CAFD-49F4-A62C-EA57CD1C075A}"/>
              </a:ext>
            </a:extLst>
          </p:cNvPr>
          <p:cNvSpPr>
            <a:spLocks xmlns:a="http://schemas.openxmlformats.org/drawingml/2006/main" noGrp="1"/>
          </p:cNvSpPr>
          <p:nvPr/>
        </p:nvSpPr>
        <p:spPr>
          <a:xfrm xmlns:a="http://schemas.openxmlformats.org/drawingml/2006/main">
            <a:off x="762000" y="3714750"/>
            <a:ext cx="504825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950" b="0">
                <a:solidFill>
                  <a:srgbClr val="5C6D79"/>
                </a:solidFill>
                <a:latin typeface="Arial"/>
                <a:ea typeface="Arial"/>
                <a:cs typeface="Arial"/>
              </a:defRPr>
            </a:defPPr>
          </a:lstStyle>
          <a:p xmlns:a="http://schemas.openxmlformats.org/drawingml/2006/main">
            <a:pPr>
              <a:defRPr sz="1950" b="0">
                <a:solidFill>
                  <a:srgbClr val="5C6D79"/>
                </a:solidFill>
                <a:latin typeface="Arial"/>
                <a:ea typeface="Arial"/>
                <a:cs typeface="Arial"/>
              </a:defRPr>
            </a:pPr>
            <a:r>
              <a:rPr sz="1950" b="0">
                <a:solidFill>
                  <a:srgbClr val="5C6D79"/>
                </a:solidFill>
                <a:latin typeface="Arial"/>
                <a:ea typeface="Arial"/>
                <a:cs typeface="Arial"/>
              </a:rPr>
              <a:t>RMSE in Michigan index points</a:t>
            </a:r>
          </a:p>
        </p:txBody>
      </p:sp>
      <p:sp>
        <p:nvSpPr>
          <p:cNvPr id="5" name="">
            <a:extLst xmlns:a="http://schemas.openxmlformats.org/drawingml/2006/main">
              <a:ext uri="{FF2B5EF4-FFF2-40B4-BE49-F238E27FC236}">
                <a16:creationId xmlns:a16="http://schemas.microsoft.com/office/drawing/2014/main" id="{40AF56C1-74EA-4B6F-B9AC-B4DDFBCC2A30}"/>
              </a:ext>
            </a:extLst>
          </p:cNvPr>
          <p:cNvSpPr>
            <a:spLocks xmlns:a="http://schemas.openxmlformats.org/drawingml/2006/main" noGrp="1"/>
          </p:cNvSpPr>
          <p:nvPr/>
        </p:nvSpPr>
        <p:spPr>
          <a:xfrm xmlns:a="http://schemas.openxmlformats.org/drawingml/2006/main">
            <a:off x="6477000" y="1714500"/>
            <a:ext cx="476250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00" b="1">
                <a:solidFill>
                  <a:srgbClr val="00867D"/>
                </a:solidFill>
                <a:latin typeface="Arial"/>
                <a:ea typeface="Arial"/>
                <a:cs typeface="Arial"/>
              </a:defRPr>
            </a:defPPr>
          </a:lstStyle>
          <a:p xmlns:a="http://schemas.openxmlformats.org/drawingml/2006/main">
            <a:pPr>
              <a:defRPr sz="2100" b="1">
                <a:solidFill>
                  <a:srgbClr val="00867D"/>
                </a:solidFill>
                <a:latin typeface="Arial"/>
                <a:ea typeface="Arial"/>
                <a:cs typeface="Arial"/>
              </a:defRPr>
            </a:pPr>
            <a:r>
              <a:rPr sz="2100" b="1">
                <a:solidFill>
                  <a:srgbClr val="00867D"/>
                </a:solidFill>
                <a:latin typeface="Arial"/>
                <a:ea typeface="Arial"/>
                <a:cs typeface="Arial"/>
              </a:rPr>
              <a:t>Dynamic model with the news index</a:t>
            </a:r>
          </a:p>
        </p:txBody>
      </p:sp>
      <p:sp>
        <p:nvSpPr>
          <p:cNvPr id="6" name="">
            <a:extLst xmlns:a="http://schemas.openxmlformats.org/drawingml/2006/main">
              <a:ext uri="{FF2B5EF4-FFF2-40B4-BE49-F238E27FC236}">
                <a16:creationId xmlns:a16="http://schemas.microsoft.com/office/drawing/2014/main" id="{ABB32D1C-BFD6-4D8E-BF7F-C8EE7C82CBCC}"/>
              </a:ext>
            </a:extLst>
          </p:cNvPr>
          <p:cNvSpPr>
            <a:spLocks xmlns:a="http://schemas.openxmlformats.org/drawingml/2006/main" noGrp="1"/>
          </p:cNvSpPr>
          <p:nvPr/>
        </p:nvSpPr>
        <p:spPr>
          <a:xfrm xmlns:a="http://schemas.openxmlformats.org/drawingml/2006/main">
            <a:off x="6477000" y="2400300"/>
            <a:ext cx="5048250" cy="1095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4200" b="1">
                <a:solidFill>
                  <a:srgbClr val="B4533B"/>
                </a:solidFill>
                <a:latin typeface="Arial"/>
                <a:ea typeface="Arial"/>
                <a:cs typeface="Arial"/>
              </a:defRPr>
            </a:defPPr>
          </a:lstStyle>
          <a:p xmlns:a="http://schemas.openxmlformats.org/drawingml/2006/main">
            <a:pPr>
              <a:defRPr sz="4200" b="1">
                <a:solidFill>
                  <a:srgbClr val="B4533B"/>
                </a:solidFill>
                <a:latin typeface="Arial"/>
                <a:ea typeface="Arial"/>
                <a:cs typeface="Arial"/>
              </a:defRPr>
            </a:pPr>
            <a:r>
              <a:rPr sz="4200" b="1">
                <a:solidFill>
                  <a:srgbClr val="B4533B"/>
                </a:solidFill>
                <a:latin typeface="Arial"/>
                <a:ea typeface="Arial"/>
                <a:cs typeface="Arial"/>
              </a:rPr>
              <a:t>5.19 to 5.23</a:t>
            </a:r>
          </a:p>
        </p:txBody>
      </p:sp>
      <p:sp>
        <p:nvSpPr>
          <p:cNvPr id="7" name="">
            <a:extLst xmlns:a="http://schemas.openxmlformats.org/drawingml/2006/main">
              <a:ext uri="{FF2B5EF4-FFF2-40B4-BE49-F238E27FC236}">
                <a16:creationId xmlns:a16="http://schemas.microsoft.com/office/drawing/2014/main" id="{D18E0BC1-E875-4632-9F6A-86491936EF92}"/>
              </a:ext>
            </a:extLst>
          </p:cNvPr>
          <p:cNvSpPr>
            <a:spLocks xmlns:a="http://schemas.openxmlformats.org/drawingml/2006/main" noGrp="1"/>
          </p:cNvSpPr>
          <p:nvPr/>
        </p:nvSpPr>
        <p:spPr>
          <a:xfrm xmlns:a="http://schemas.openxmlformats.org/drawingml/2006/main">
            <a:off x="6477000" y="3714750"/>
            <a:ext cx="504825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950" b="0">
                <a:solidFill>
                  <a:srgbClr val="5C6D79"/>
                </a:solidFill>
                <a:latin typeface="Arial"/>
                <a:ea typeface="Arial"/>
                <a:cs typeface="Arial"/>
              </a:defRPr>
            </a:defPPr>
          </a:lstStyle>
          <a:p xmlns:a="http://schemas.openxmlformats.org/drawingml/2006/main">
            <a:pPr>
              <a:defRPr sz="1950" b="0">
                <a:solidFill>
                  <a:srgbClr val="5C6D79"/>
                </a:solidFill>
                <a:latin typeface="Arial"/>
                <a:ea typeface="Arial"/>
                <a:cs typeface="Arial"/>
              </a:defRPr>
            </a:pPr>
            <a:r>
              <a:rPr sz="1950" b="0">
                <a:solidFill>
                  <a:srgbClr val="5C6D79"/>
                </a:solidFill>
                <a:latin typeface="Arial"/>
                <a:ea typeface="Arial"/>
                <a:cs typeface="Arial"/>
              </a:rPr>
              <a:t>RMSE in Michigan index points</a:t>
            </a:r>
          </a:p>
        </p:txBody>
      </p:sp>
      <p:sp>
        <p:nvSpPr>
          <p:cNvPr id="8" name="">
            <a:extLst xmlns:a="http://schemas.openxmlformats.org/drawingml/2006/main">
              <a:ext uri="{FF2B5EF4-FFF2-40B4-BE49-F238E27FC236}">
                <a16:creationId xmlns:a16="http://schemas.microsoft.com/office/drawing/2014/main" id="{BBCC4058-9E54-4DF5-ADCA-AC807D7341CA}"/>
              </a:ext>
            </a:extLst>
          </p:cNvPr>
          <p:cNvSpPr>
            <a:spLocks xmlns:a="http://schemas.openxmlformats.org/drawingml/2006/main" noGrp="1"/>
          </p:cNvSpPr>
          <p:nvPr/>
        </p:nvSpPr>
        <p:spPr>
          <a:xfrm xmlns:a="http://schemas.openxmlformats.org/drawingml/2006/main">
            <a:off x="762000" y="5095875"/>
            <a:ext cx="106680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75" b="0">
                <a:solidFill>
                  <a:srgbClr val="5C6D79"/>
                </a:solidFill>
                <a:latin typeface="Arial"/>
                <a:ea typeface="Arial"/>
                <a:cs typeface="Arial"/>
              </a:defRPr>
            </a:defPPr>
          </a:lstStyle>
          <a:p xmlns:a="http://schemas.openxmlformats.org/drawingml/2006/main">
            <a:pPr>
              <a:defRPr sz="2175" b="0">
                <a:solidFill>
                  <a:srgbClr val="5C6D79"/>
                </a:solidFill>
                <a:latin typeface="Arial"/>
                <a:ea typeface="Arial"/>
                <a:cs typeface="Arial"/>
              </a:defRPr>
            </a:pPr>
            <a:r>
              <a:rPr sz="2175" b="0">
                <a:solidFill>
                  <a:srgbClr val="5C6D79"/>
                </a:solidFill>
                <a:latin typeface="Arial"/>
                <a:ea typeface="Arial"/>
                <a:cs typeface="Arial"/>
              </a:rPr>
              <a:t>Retrospective comparison only. Historical news-index vintages</a:t>
            </a:r>
          </a:p>
          <a:p xmlns:a="http://schemas.openxmlformats.org/drawingml/2006/main">
            <a:pPr>
              <a:defRPr sz="2175" b="0">
                <a:solidFill>
                  <a:srgbClr val="5C6D79"/>
                </a:solidFill>
                <a:latin typeface="Arial"/>
                <a:ea typeface="Arial"/>
                <a:cs typeface="Arial"/>
              </a:defRPr>
            </a:pPr>
            <a:r>
              <a:rPr sz="2175" b="0">
                <a:solidFill>
                  <a:srgbClr val="5C6D79"/>
                </a:solidFill>
                <a:latin typeface="Arial"/>
                <a:ea typeface="Arial"/>
                <a:cs typeface="Arial"/>
              </a:rPr>
              <a:t>and respondent exposure were not recovered.</a:t>
            </a:r>
          </a:p>
        </p:txBody>
      </p:sp>
    </p:spTree>
    <p:extLst>
      <p:ext uri="{BB962C8B-B14F-4D97-AF65-F5344CB8AC3E}">
        <p14:creationId xmlns:p14="http://schemas.microsoft.com/office/powerpoint/2010/main" val="1662908122"/>
      </p:ext>
    </p:extLst>
  </p:cSld>
</p:sld>
</file>

<file path=ppt/slides/slide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6C92A7D3-836E-4AFF-9244-FE47511AFFB0}"/>
              </a:ext>
            </a:extLst>
          </p:cNvPr>
          <p:cNvSpPr>
            <a:spLocks xmlns:a="http://schemas.openxmlformats.org/drawingml/2006/main" noGrp="1"/>
          </p:cNvSpPr>
          <p:nvPr/>
        </p:nvSpPr>
        <p:spPr>
          <a:xfrm xmlns:a="http://schemas.openxmlformats.org/drawingml/2006/main">
            <a:off x="666750" y="457200"/>
            <a:ext cx="108585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300" b="1">
                <a:solidFill>
                  <a:srgbClr val="18354E"/>
                </a:solidFill>
                <a:latin typeface="Arial"/>
                <a:ea typeface="Arial"/>
                <a:cs typeface="Arial"/>
              </a:defRPr>
            </a:defPPr>
          </a:lstStyle>
          <a:p xmlns:a="http://schemas.openxmlformats.org/drawingml/2006/main">
            <a:pPr>
              <a:defRPr sz="3300" b="1">
                <a:solidFill>
                  <a:srgbClr val="18354E"/>
                </a:solidFill>
                <a:latin typeface="Arial"/>
                <a:ea typeface="Arial"/>
                <a:cs typeface="Arial"/>
              </a:defRPr>
            </a:pPr>
            <a:r>
              <a:rPr sz="3300" b="1">
                <a:solidFill>
                  <a:srgbClr val="18354E"/>
                </a:solidFill>
                <a:latin typeface="Arial"/>
                <a:ea typeface="Arial"/>
                <a:cs typeface="Arial"/>
              </a:rPr>
              <a:t>Financial monitoring should expose model uncertainty</a:t>
            </a:r>
          </a:p>
        </p:txBody>
      </p:sp>
      <p:sp>
        <p:nvSpPr>
          <p:cNvPr id="2" name="">
            <a:extLst xmlns:a="http://schemas.openxmlformats.org/drawingml/2006/main">
              <a:ext uri="{FF2B5EF4-FFF2-40B4-BE49-F238E27FC236}">
                <a16:creationId xmlns:a16="http://schemas.microsoft.com/office/drawing/2014/main" id="{18400A9F-026D-4A1F-B753-8545C92010FD}"/>
              </a:ext>
            </a:extLst>
          </p:cNvPr>
          <p:cNvSpPr>
            <a:spLocks xmlns:a="http://schemas.openxmlformats.org/drawingml/2006/main" noGrp="1"/>
          </p:cNvSpPr>
          <p:nvPr/>
        </p:nvSpPr>
        <p:spPr>
          <a:xfrm xmlns:a="http://schemas.openxmlformats.org/drawingml/2006/main">
            <a:off x="762000" y="1762125"/>
            <a:ext cx="104775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925" b="1">
                <a:solidFill>
                  <a:srgbClr val="00867D"/>
                </a:solidFill>
                <a:latin typeface="Arial"/>
                <a:ea typeface="Arial"/>
                <a:cs typeface="Arial"/>
              </a:defRPr>
            </a:defPPr>
          </a:lstStyle>
          <a:p xmlns:a="http://schemas.openxmlformats.org/drawingml/2006/main">
            <a:pPr>
              <a:defRPr sz="2925" b="1">
                <a:solidFill>
                  <a:srgbClr val="00867D"/>
                </a:solidFill>
                <a:latin typeface="Arial"/>
                <a:ea typeface="Arial"/>
                <a:cs typeface="Arial"/>
              </a:defRPr>
            </a:pPr>
            <a:r>
              <a:rPr sz="2925" b="1">
                <a:solidFill>
                  <a:srgbClr val="00867D"/>
                </a:solidFill>
                <a:latin typeface="Arial"/>
                <a:ea typeface="Arial"/>
                <a:cs typeface="Arial"/>
              </a:rPr>
              <a:t>Benchmark the residual</a:t>
            </a:r>
          </a:p>
        </p:txBody>
      </p:sp>
      <p:sp>
        <p:nvSpPr>
          <p:cNvPr id="3" name="">
            <a:extLst xmlns:a="http://schemas.openxmlformats.org/drawingml/2006/main">
              <a:ext uri="{FF2B5EF4-FFF2-40B4-BE49-F238E27FC236}">
                <a16:creationId xmlns:a16="http://schemas.microsoft.com/office/drawing/2014/main" id="{EF899012-7DDB-4B92-8B5D-302A55E11B76}"/>
              </a:ext>
            </a:extLst>
          </p:cNvPr>
          <p:cNvSpPr>
            <a:spLocks xmlns:a="http://schemas.openxmlformats.org/drawingml/2006/main" noGrp="1"/>
          </p:cNvSpPr>
          <p:nvPr/>
        </p:nvSpPr>
        <p:spPr>
          <a:xfrm xmlns:a="http://schemas.openxmlformats.org/drawingml/2006/main">
            <a:off x="762000" y="2619375"/>
            <a:ext cx="106680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325" b="0">
                <a:solidFill>
                  <a:srgbClr val="18354E"/>
                </a:solidFill>
                <a:latin typeface="Arial"/>
                <a:ea typeface="Arial"/>
                <a:cs typeface="Arial"/>
              </a:defRPr>
            </a:defPPr>
          </a:lstStyle>
          <a:p xmlns:a="http://schemas.openxmlformats.org/drawingml/2006/main">
            <a:pPr>
              <a:defRPr sz="2325" b="0">
                <a:solidFill>
                  <a:srgbClr val="18354E"/>
                </a:solidFill>
                <a:latin typeface="Arial"/>
                <a:ea typeface="Arial"/>
                <a:cs typeface="Arial"/>
              </a:defRPr>
            </a:pPr>
            <a:r>
              <a:rPr sz="2325" b="0">
                <a:solidFill>
                  <a:srgbClr val="18354E"/>
                </a:solidFill>
                <a:latin typeface="Arial"/>
                <a:ea typeface="Arial"/>
                <a:cs typeface="Arial"/>
              </a:rPr>
              <a:t>Persistence beats the economic-only model in the historical test.</a:t>
            </a:r>
          </a:p>
        </p:txBody>
      </p:sp>
      <p:sp>
        <p:nvSpPr>
          <p:cNvPr id="4" name="">
            <a:extLst xmlns:a="http://schemas.openxmlformats.org/drawingml/2006/main">
              <a:ext uri="{FF2B5EF4-FFF2-40B4-BE49-F238E27FC236}">
                <a16:creationId xmlns:a16="http://schemas.microsoft.com/office/drawing/2014/main" id="{6ADF60EA-737D-466D-BC76-AB3EAE37F166}"/>
              </a:ext>
            </a:extLst>
          </p:cNvPr>
          <p:cNvSpPr>
            <a:spLocks xmlns:a="http://schemas.openxmlformats.org/drawingml/2006/main" noGrp="1"/>
          </p:cNvSpPr>
          <p:nvPr/>
        </p:nvSpPr>
        <p:spPr>
          <a:xfrm xmlns:a="http://schemas.openxmlformats.org/drawingml/2006/main">
            <a:off x="762000" y="3714750"/>
            <a:ext cx="104775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925" b="1">
                <a:solidFill>
                  <a:srgbClr val="00867D"/>
                </a:solidFill>
                <a:latin typeface="Arial"/>
                <a:ea typeface="Arial"/>
                <a:cs typeface="Arial"/>
              </a:defRPr>
            </a:defPPr>
          </a:lstStyle>
          <a:p xmlns:a="http://schemas.openxmlformats.org/drawingml/2006/main">
            <a:pPr>
              <a:defRPr sz="2925" b="1">
                <a:solidFill>
                  <a:srgbClr val="00867D"/>
                </a:solidFill>
                <a:latin typeface="Arial"/>
                <a:ea typeface="Arial"/>
                <a:cs typeface="Arial"/>
              </a:defRPr>
            </a:pPr>
            <a:r>
              <a:rPr sz="2925" b="1">
                <a:solidFill>
                  <a:srgbClr val="00867D"/>
                </a:solidFill>
                <a:latin typeface="Arial"/>
                <a:ea typeface="Arial"/>
                <a:cs typeface="Arial"/>
              </a:rPr>
              <a:t>Show the interval and input dates</a:t>
            </a:r>
          </a:p>
        </p:txBody>
      </p:sp>
      <p:sp>
        <p:nvSpPr>
          <p:cNvPr id="5" name="">
            <a:extLst xmlns:a="http://schemas.openxmlformats.org/drawingml/2006/main">
              <a:ext uri="{FF2B5EF4-FFF2-40B4-BE49-F238E27FC236}">
                <a16:creationId xmlns:a16="http://schemas.microsoft.com/office/drawing/2014/main" id="{E36BE45B-4AA6-40E3-AA63-E56430B175F7}"/>
              </a:ext>
            </a:extLst>
          </p:cNvPr>
          <p:cNvSpPr>
            <a:spLocks xmlns:a="http://schemas.openxmlformats.org/drawingml/2006/main" noGrp="1"/>
          </p:cNvSpPr>
          <p:nvPr/>
        </p:nvSpPr>
        <p:spPr>
          <a:xfrm xmlns:a="http://schemas.openxmlformats.org/drawingml/2006/main">
            <a:off x="762000" y="4572000"/>
            <a:ext cx="106680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325" b="0">
                <a:solidFill>
                  <a:srgbClr val="18354E"/>
                </a:solidFill>
                <a:latin typeface="Arial"/>
                <a:ea typeface="Arial"/>
                <a:cs typeface="Arial"/>
              </a:defRPr>
            </a:defPPr>
          </a:lstStyle>
          <a:p xmlns:a="http://schemas.openxmlformats.org/drawingml/2006/main">
            <a:pPr>
              <a:defRPr sz="2325" b="0">
                <a:solidFill>
                  <a:srgbClr val="18354E"/>
                </a:solidFill>
                <a:latin typeface="Arial"/>
                <a:ea typeface="Arial"/>
                <a:cs typeface="Arial"/>
              </a:defRPr>
            </a:pPr>
            <a:r>
              <a:rPr sz="2325" b="0">
                <a:solidFill>
                  <a:srgbClr val="18354E"/>
                </a:solidFill>
                <a:latin typeface="Arial"/>
                <a:ea typeface="Arial"/>
                <a:cs typeface="Arial"/>
              </a:rPr>
              <a:t>The October gap changes from -26.55 to -6.81 across specifications.</a:t>
            </a:r>
          </a:p>
        </p:txBody>
      </p:sp>
      <p:sp>
        <p:nvSpPr>
          <p:cNvPr id="6" name="">
            <a:extLst xmlns:a="http://schemas.openxmlformats.org/drawingml/2006/main">
              <a:ext uri="{FF2B5EF4-FFF2-40B4-BE49-F238E27FC236}">
                <a16:creationId xmlns:a16="http://schemas.microsoft.com/office/drawing/2014/main" id="{B5D351D6-2246-4489-84DB-6B658D104CBA}"/>
              </a:ext>
            </a:extLst>
          </p:cNvPr>
          <p:cNvSpPr>
            <a:spLocks xmlns:a="http://schemas.openxmlformats.org/drawingml/2006/main" noGrp="1"/>
          </p:cNvSpPr>
          <p:nvPr/>
        </p:nvSpPr>
        <p:spPr>
          <a:xfrm xmlns:a="http://schemas.openxmlformats.org/drawingml/2006/main">
            <a:off x="762000" y="5762625"/>
            <a:ext cx="106680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875" b="0">
                <a:solidFill>
                  <a:srgbClr val="5C6D79"/>
                </a:solidFill>
                <a:latin typeface="Arial"/>
                <a:ea typeface="Arial"/>
                <a:cs typeface="Arial"/>
              </a:defRPr>
            </a:defPPr>
          </a:lstStyle>
          <a:p xmlns:a="http://schemas.openxmlformats.org/drawingml/2006/main">
            <a:pPr>
              <a:defRPr sz="1875" b="0">
                <a:solidFill>
                  <a:srgbClr val="5C6D79"/>
                </a:solidFill>
                <a:latin typeface="Arial"/>
                <a:ea typeface="Arial"/>
                <a:cs typeface="Arial"/>
              </a:defRPr>
            </a:pPr>
            <a:r>
              <a:rPr sz="1875" b="0">
                <a:solidFill>
                  <a:srgbClr val="5C6D79"/>
                </a:solidFill>
                <a:latin typeface="Arial"/>
                <a:ea typeface="Arial"/>
                <a:cs typeface="Arial"/>
              </a:rPr>
              <a:t>Next releases: sentiment 23 October, GDP and PCE 29 October.</a:t>
            </a:r>
          </a:p>
          <a:p xmlns:a="http://schemas.openxmlformats.org/drawingml/2006/main">
            <a:pPr>
              <a:defRPr sz="1875" b="0">
                <a:solidFill>
                  <a:srgbClr val="5C6D79"/>
                </a:solidFill>
                <a:latin typeface="Arial"/>
                <a:ea typeface="Arial"/>
                <a:cs typeface="Arial"/>
              </a:defRPr>
            </a:pPr>
            <a:r>
              <a:rPr sz="1875" b="0">
                <a:solidFill>
                  <a:srgbClr val="5C6D79"/>
                </a:solidFill>
                <a:latin typeface="Arial"/>
                <a:ea typeface="Arial"/>
                <a:cs typeface="Arial"/>
              </a:rPr>
              <a:t>The media pilot provides no established causal effect.</a:t>
            </a:r>
          </a:p>
        </p:txBody>
      </p:sp>
    </p:spTree>
    <p:extLst>
      <p:ext uri="{BB962C8B-B14F-4D97-AF65-F5344CB8AC3E}">
        <p14:creationId xmlns:p14="http://schemas.microsoft.com/office/powerpoint/2010/main" val="1100491600"/>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2026-10-16T20:05:35.0240000Z</dcterms:created>
  <dcterms:modified xsi:type="dcterms:W3CDTF">2026-10-16T20:05:35.0240000Z</dcterms:modified>
</coreProperties>
</file>
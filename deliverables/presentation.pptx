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974ad78e4064414" /><Relationship Type="http://schemas.openxmlformats.org/officeDocument/2006/relationships/extended-properties" Target="/docProps/app.xml" Id="Rc53a147c09cf4f8b" /><Relationship Type="http://schemas.openxmlformats.org/officeDocument/2006/relationships/officeDocument" Target="/ppt/presentation.xml" Id="R9702a7289cb04e76" /></Relationships>
</file>

<file path=ppt/presentation.xml><?xml version="1.0" encoding="utf-8"?>
<p:presentation xmlns:p="http://schemas.openxmlformats.org/presentationml/2006/main">
  <p:sldMasterIdLst>
    <p:sldMasterId xmlns:r="http://schemas.openxmlformats.org/officeDocument/2006/relationships" id="2147483648" r:id="R1aec7b86c5d84235"/>
  </p:sldMasterIdLst>
  <p:notesMasterIdLst>
    <p:notesMasterId xmlns:r="http://schemas.openxmlformats.org/officeDocument/2006/relationships" r:id="R3cbcc97e6c4a4f5b"/>
  </p:notesMasterIdLst>
  <p:sldIdLst>
    <p:sldId xmlns:r="http://schemas.openxmlformats.org/officeDocument/2006/relationships" id="256" r:id="R0644adb338734653"/>
    <p:sldId xmlns:r="http://schemas.openxmlformats.org/officeDocument/2006/relationships" id="257" r:id="R21a9b6f4eccb481f"/>
    <p:sldId xmlns:r="http://schemas.openxmlformats.org/officeDocument/2006/relationships" id="258" r:id="R236d6e15de2f4903"/>
    <p:sldId xmlns:r="http://schemas.openxmlformats.org/officeDocument/2006/relationships" id="259" r:id="R04467e4759734205"/>
    <p:sldId xmlns:r="http://schemas.openxmlformats.org/officeDocument/2006/relationships" id="260" r:id="R701d64604b55426d"/>
    <p:sldId xmlns:r="http://schemas.openxmlformats.org/officeDocument/2006/relationships" id="261" r:id="Re6bfad0ad4ba4db6"/>
    <p:sldId xmlns:r="http://schemas.openxmlformats.org/officeDocument/2006/relationships" id="262" r:id="Raeabf2f4f86241e8"/>
    <p:sldId xmlns:r="http://schemas.openxmlformats.org/officeDocument/2006/relationships" id="263" r:id="Re6bf8dfa28ea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8fd315998d4ed3" /><Relationship Type="http://schemas.openxmlformats.org/officeDocument/2006/relationships/slideMaster" Target="/ppt/slideMasters/slideMaster1.xml" Id="R1aec7b86c5d84235" /><Relationship Type="http://schemas.openxmlformats.org/officeDocument/2006/relationships/notesMaster" Target="/ppt/notesMasters/notesMaster1.xml" Id="R3cbcc97e6c4a4f5b" /><Relationship Type="http://schemas.openxmlformats.org/officeDocument/2006/relationships/presProps" Target="/ppt/presProps.xml" Id="R40717e10021b46c3" /><Relationship Type="http://schemas.openxmlformats.org/officeDocument/2006/relationships/tableStyles" Target="/ppt/tableStyles.xml" Id="R975eb593d8b94038" /><Relationship Type="http://schemas.openxmlformats.org/officeDocument/2006/relationships/slide" Target="/ppt/slides/slide1.xml" Id="R0644adb338734653" /><Relationship Type="http://schemas.openxmlformats.org/officeDocument/2006/relationships/slide" Target="/ppt/slides/slide2.xml" Id="R21a9b6f4eccb481f" /><Relationship Type="http://schemas.openxmlformats.org/officeDocument/2006/relationships/slide" Target="/ppt/slides/slide3.xml" Id="R236d6e15de2f4903" /><Relationship Type="http://schemas.openxmlformats.org/officeDocument/2006/relationships/slide" Target="/ppt/slides/slide4.xml" Id="R04467e4759734205" /><Relationship Type="http://schemas.openxmlformats.org/officeDocument/2006/relationships/slide" Target="/ppt/slides/slide5.xml" Id="R701d64604b55426d" /><Relationship Type="http://schemas.openxmlformats.org/officeDocument/2006/relationships/slide" Target="/ppt/slides/slide6.xml" Id="Re6bfad0ad4ba4db6" /><Relationship Type="http://schemas.openxmlformats.org/officeDocument/2006/relationships/slide" Target="/ppt/slides/slide7.xml" Id="Raeabf2f4f86241e8" /><Relationship Type="http://schemas.openxmlformats.org/officeDocument/2006/relationships/slide" Target="/ppt/slides/slide8.xml" Id="Re6bf8dfa28ea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25cbdc3b2e4f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efb7815edf49c1" /><Relationship Type="http://schemas.openxmlformats.org/officeDocument/2006/relationships/notesMaster" Target="/ppt/notesMasters/notesMaster1.xml" Id="Rb59723742e5d40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29792c8d3e4984" /><Relationship Type="http://schemas.openxmlformats.org/officeDocument/2006/relationships/notesMaster" Target="/ppt/notesMasters/notesMaster1.xml" Id="R993b9541bd9e48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484aeb82434d24" /><Relationship Type="http://schemas.openxmlformats.org/officeDocument/2006/relationships/notesMaster" Target="/ppt/notesMasters/notesMaster1.xml" Id="R259adccfaec84a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1ede1a090a49fc" /><Relationship Type="http://schemas.openxmlformats.org/officeDocument/2006/relationships/notesMaster" Target="/ppt/notesMasters/notesMaster1.xml" Id="R91f53d35ed6543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8cf5a1a6d44958" /><Relationship Type="http://schemas.openxmlformats.org/officeDocument/2006/relationships/notesMaster" Target="/ppt/notesMasters/notesMaster1.xml" Id="R5fda47659eb04e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d45a510e4f4ad2" /><Relationship Type="http://schemas.openxmlformats.org/officeDocument/2006/relationships/notesMaster" Target="/ppt/notesMasters/notesMaster1.xml" Id="Rf43dffd7327347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0868d21bce4fef" /><Relationship Type="http://schemas.openxmlformats.org/officeDocument/2006/relationships/notesMaster" Target="/ppt/notesMasters/notesMaster1.xml" Id="R4ea837571dee46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1f11475a864b3a" /><Relationship Type="http://schemas.openxmlformats.org/officeDocument/2006/relationships/notesMaster" Target="/ppt/notesMasters/notesMaster1.xml" Id="Re41b5d646e9842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This project asks whether economic narratives in news and social media help explain consumer sentiment that appears weak relative to headline economic indicators. I treat real household pressure, information framing and model limitations as competing explanations. The strongest finding is that the size of the sentiment gap changes substantially when the forecasting model changes. I completed a historical economic forecast test using genuine data vintages and a recent text-measurement pilot. The media evidence remains insufficient for either a causal claim or a validated claim of no effect. The research cutoff is October fourteenth, before the election. Sources: project assignment; research_report.pdf, pages 1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Before estimating anything, I compared the supplied workbook with official sources. Its August PCE inflation value is about three point zero one percent. Recomputing inflation from the official BEA price index gives three point four two percent. I therefore use official prices and calculate the year-over-year rate within each historical data vintage. The supplied third-quarter GDP number is excluded because its advance release is scheduled after the research cutoff. October consumer sentiment is a valid preliminary reading, rather than a final month-end observation. The missing October twenty twenty-five unemployment observation is a documented survey interruption caused by the federal shutdown. I preserve it rather than interpolate it. Sources: https://www.bea.gov/news/2026/personal-income-and-outlays-august-2026 ; https://www.bea.gov/news/schedule/full ; https://www.bls.gov/news.release/archives/empsit_12162025.htm ; https://www.sca.isr.umich.edu/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Each forecast targets a calendar month and starts on its first day. Inputs come from the economic snapshot available by the previous day. I collected two hundred and two monthly ALFRED vintages from January twenty ten through October twenty twenty-six, and verified every requested vintage in the downloaded series headers. GDP remains quarterly. The latest released quarter supplies the growth input until the next release. The models train on an expanding window, using only sentiment outcomes already present in that origin vintage. Evaluation begins in twenty eighteen and covers one hundred and five final monthly outcomes. October preliminary sentiment is monitoring data and stays outside the main accuracy scores. The persistence benchmark follows ALFRED distribution availability, which can lag direct Michigan releases. Source: https://alfred.stlouisfed.org/help/downloaddata ; results/model_specifications.json.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This chart compares the same one hundred and five final months. Lower root mean squared error is better. Carrying forward the latest available sentiment reading has an error of four point seven five index points. The three-variable economic model has an error of fourteen point one zero. Adding recent sentiment lowers the economic model error to five point one nine, while household income and accumulated-price controls give five point five four. The simple macro relationship forecasts particularly poorly after the pandemic. This does not show that economic conditions or household pressures are irrelevant. It shows that the chosen linear specification does not extract a stable incremental signal beyond persistence. A six-month block bootstrap also shows a large loss disadvantage for the economic-only specification. Sources: results/forecast_metrics.json ; results/model_comparisons.json.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October preliminary sentiment is forty-six point three. The economic-only forecast is seventy-two point eight five, leaving a negative gap of twenty-six point five five points. With recent sentiment included, the forecast becomes fifty-three point one one and the gap shrinks to six point eight one points. Both observations lie inside the corresponding empirical prediction intervals. The economic-only interval is very wide, from forty-two point two six to one hundred and three point four three. That width signals limited predictive precision. A negative residual is unexplained under the selected model. It is not an estimate of irrationality, misinformation or a causal media contribution. The dashboard lets the reader change models and inspect this dependence directly. Sources: results/forecasts.csv, October 2026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focused corpus has 316 economically relevant, US-related headlines and Reddit post titles, with 127 national news items, 33 local news items and 156 social posts. It is a convenience sample covering July through October, not a representative exposure measure. The classifier is a transparent Naive Bayes model trained on Financial PhraseBank. On four hundred and forty-three held-out company-finance sentences, macro F one is zero point seven nine six, compared with zero point five four three for a dictionary. Domain transfer is uncertain. The two methods disagree on 54.7 percent of the project items. External performance therefore cannot validate the media pilot. Independent human corpus labels remain missing. Sources: https://huggingface.co/datasets/takala/financial_phrasebank ; results/nlp_benchmark.json ; results/corpus_summary.json.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A separate retrospective test uses the San Francisco Fed historical news sentiment index, with the mean from two calendar months earlier. It changes macro-model RMSE from fourteen point one zero to thirteen point nine two, but changes the stronger dynamic model from five point one nine to five point two three. Full-window block-bootstrap intervals do not establish an improvement. A twenty twenty-one onward sensitivity shows a modest dynamic-model gain, so the result depends on the evaluation window. Historical index vintages were unavailable. These are reconstructed retrospective results, not a verified real-time signal. The own-text pilot remains too short for its own historical comparison and still lacks independent human validation. A causal framing experiment would need randomization, consent and appropriate review. Sources: https://www.frbsf.org/research-and-insights/data-and-indicators/daily-news-sentiment-index/ ; results/news_index_comparison.json ; research_report.pdf pages 4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The practical implication is to benchmark a sentiment-gap signal before using it in financial forecasting or risk monitoring. Show the selected model, the prediction interval and the dates of available inputs next to the residual. The local dashboard provides those views, along with source filters and measurement warnings. The next scheduled survey update is October twenty-third, followed by GDP and PCE releases on October twenty-ninth. Those releases belong in later information sets and must not be backfilled into earlier forecasts. The current evidence does not establish a media-driven sentiment decline. It supports better measurement and a clearer plan for testing that hypothesis. The outstanding human-labeling and longitudinal-media requirements remain visible in the report. Sources: https://www.sca.isr.umich.edu/ ; https://www.bea.gov/news/schedule/full ; research_report.pdf, pages 10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0407de7ce842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26a17d7d6942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21d19b6fae41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89f8756a1548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929fad37c642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4ebb6d85b24b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112B8B-E501-4ECE-B0CC-E2A34D2720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7BA2E2-0D80-4E37-8DCC-0B65CFE58E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CDB5E7-50AE-4A0F-A198-DF0B4BFA0B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874FFD-55BC-4670-8001-9117FE5261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8F8195-557D-417E-BFEE-945F669856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6B2E61-F1BC-470C-A042-45B0A30C8B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3E7004-282C-40AF-BE82-8E15994D8C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545BD2-87F0-4862-A298-6100ACBFC0E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49778C-7500-4010-9945-9051036AD3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B5BB17-F6A0-43D9-AC19-C40D3C2284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c0bec25243420a" /><Relationship Type="http://schemas.openxmlformats.org/officeDocument/2006/relationships/slideLayout" Target="/ppt/slideLayouts/slideLayout1.xml" Id="Rd18adb44c5584100" /><Relationship Type="http://schemas.openxmlformats.org/officeDocument/2006/relationships/slideLayout" Target="/ppt/slideLayouts/slideLayout2.xml" Id="R4e7edb5faa724e05" /><Relationship Type="http://schemas.openxmlformats.org/officeDocument/2006/relationships/slideLayout" Target="/ppt/slideLayouts/slideLayout3.xml" Id="R1e74c9e8e2d34cf8" /><Relationship Type="http://schemas.openxmlformats.org/officeDocument/2006/relationships/slideLayout" Target="/ppt/slideLayouts/slideLayout4.xml" Id="R6ffd9b071a854c88" /><Relationship Type="http://schemas.openxmlformats.org/officeDocument/2006/relationships/slideLayout" Target="/ppt/slideLayouts/slideLayout5.xml" Id="R82ea4699ba85488c" /><Relationship Type="http://schemas.openxmlformats.org/officeDocument/2006/relationships/slideLayout" Target="/ppt/slideLayouts/slideLayout6.xml" Id="R87f09439006247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8adb44c5584100"/>
    <p:sldLayoutId xmlns:r="http://schemas.openxmlformats.org/officeDocument/2006/relationships" id="2147483650" r:id="R4e7edb5faa724e05"/>
    <p:sldLayoutId xmlns:r="http://schemas.openxmlformats.org/officeDocument/2006/relationships" id="2147483651" r:id="R1e74c9e8e2d34cf8"/>
    <p:sldLayoutId xmlns:r="http://schemas.openxmlformats.org/officeDocument/2006/relationships" id="2147483652" r:id="R6ffd9b071a854c88"/>
    <p:sldLayoutId xmlns:r="http://schemas.openxmlformats.org/officeDocument/2006/relationships" id="2147483653" r:id="R82ea4699ba85488c"/>
    <p:sldLayoutId xmlns:r="http://schemas.openxmlformats.org/officeDocument/2006/relationships" id="2147483654" r:id="R87f09439006247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a7af2c906a498d" /><Relationship Type="http://schemas.openxmlformats.org/officeDocument/2006/relationships/notesSlide" Target="/ppt/notesSlides/notesSlide1.xml" Id="Rc9f4dc5b493348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7bcdccac5e4bb2" /><Relationship Type="http://schemas.openxmlformats.org/officeDocument/2006/relationships/notesSlide" Target="/ppt/notesSlides/notesSlide2.xml" Id="Rf183febe9fdc48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f07ed1e54f41d7" /><Relationship Type="http://schemas.openxmlformats.org/officeDocument/2006/relationships/notesSlide" Target="/ppt/notesSlides/notesSlide3.xml" Id="R720b04b112384b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30e85fff474b06" /><Relationship Type="http://schemas.openxmlformats.org/officeDocument/2006/relationships/chart" Target="/ppt/slides/charts/chart1.xml" Id="R9aa12e5be4514983" /><Relationship Type="http://schemas.openxmlformats.org/officeDocument/2006/relationships/notesSlide" Target="/ppt/notesSlides/notesSlide4.xml" Id="Rc43aafdde6f948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4d5c69757a4d05" /><Relationship Type="http://schemas.openxmlformats.org/officeDocument/2006/relationships/notesSlide" Target="/ppt/notesSlides/notesSlide5.xml" Id="Rd478c0f5c43648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70140c6d96430f" /><Relationship Type="http://schemas.openxmlformats.org/officeDocument/2006/relationships/chart" Target="/ppt/slides/charts/chart2.xml" Id="R70467f5795314e93" /><Relationship Type="http://schemas.openxmlformats.org/officeDocument/2006/relationships/notesSlide" Target="/ppt/notesSlides/notesSlide6.xml" Id="R317a7bc769a346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dbfddfe2e64081" /><Relationship Type="http://schemas.openxmlformats.org/officeDocument/2006/relationships/notesSlide" Target="/ppt/notesSlides/notesSlide7.xml" Id="Rddfe48ab834743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a0865b10f3497d" /><Relationship Type="http://schemas.openxmlformats.org/officeDocument/2006/relationships/notesSlide" Target="/ppt/notesSlides/notesSlide8.xml" Id="R0eff744d5cae43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c:v>
          </c:tx>
          <c:spPr>
            <a:solidFill xmlns:a="http://schemas.openxmlformats.org/drawingml/2006/main">
              <a:srgbClr val="00867D"/>
            </a:solidFill>
          </c:spPr>
          <c:invertIfNegative val="0"/>
          <c:cat>
            <c:strRef>
              <c:f>'Chart Data'!$A$2:$A$5</c:f>
              <c:strCache>
                <c:ptCount val="4"/>
                <c:pt idx="0">
                  <c:v>Persistence</c:v>
                </c:pt>
                <c:pt idx="1">
                  <c:v>Economic</c:v>
                </c:pt>
                <c:pt idx="2">
                  <c:v>Economic + sentiment</c:v>
                </c:pt>
                <c:pt idx="3">
                  <c:v>Economic + household controls</c:v>
                </c:pt>
              </c:strCache>
            </c:strRef>
          </c:cat>
          <c:val>
            <c:numRef>
              <c:f>'Chart Data'!$B$2:$B$5</c:f>
              <c:numCache>
                <c:formatCode>General</c:formatCode>
                <c:ptCount val="4"/>
                <c:pt idx="0">
                  <c:v>4.75</c:v>
                </c:pt>
                <c:pt idx="1">
                  <c:v>14.1</c:v>
                </c:pt>
                <c:pt idx="2">
                  <c:v>5.19</c:v>
                </c:pt>
                <c:pt idx="3">
                  <c:v>5.54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CE4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Macro F1</c:v>
          </c:tx>
          <c:spPr>
            <a:solidFill xmlns:a="http://schemas.openxmlformats.org/drawingml/2006/main">
              <a:srgbClr val="00867D"/>
            </a:solidFill>
          </c:spPr>
          <c:invertIfNegative val="0"/>
          <c:cat>
            <c:strRef>
              <c:f>'Chart Data'!$A$2:$A$3</c:f>
              <c:strCache>
                <c:ptCount val="2"/>
                <c:pt idx="0">
                  <c:v>Naive Bayes</c:v>
                </c:pt>
                <c:pt idx="1">
                  <c:v>Dictionary</c:v>
                </c:pt>
              </c:strCache>
            </c:strRef>
          </c:cat>
          <c:val>
            <c:numRef>
              <c:f>'Chart Data'!$B$2:$B$3</c:f>
              <c:numCache>
                <c:formatCode>0.0</c:formatCode>
                <c:ptCount val="2"/>
                <c:pt idx="0">
                  <c:v>0.796</c:v>
                </c:pt>
                <c:pt idx="1">
                  <c:v>0.543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54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8EB9EEF-3289-4245-8B53-C6EF3A531299}"/>
              </a:ext>
            </a:extLst>
          </p:cNvPr>
          <p:cNvSpPr>
            <a:spLocks xmlns:a="http://schemas.openxmlformats.org/drawingml/2006/main" noGrp="1"/>
          </p:cNvSpPr>
          <p:nvPr/>
        </p:nvSpPr>
        <p:spPr>
          <a:xfrm xmlns:a="http://schemas.openxmlformats.org/drawingml/2006/main">
            <a:off x="762000" y="1066800"/>
            <a:ext cx="1057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Economic narratives and</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US consumer sentiment</a:t>
            </a:r>
          </a:p>
        </p:txBody>
      </p:sp>
      <p:sp>
        <p:nvSpPr>
          <p:cNvPr id="2" name="">
            <a:extLst xmlns:a="http://schemas.openxmlformats.org/drawingml/2006/main">
              <a:ext uri="{FF2B5EF4-FFF2-40B4-BE49-F238E27FC236}">
                <a16:creationId xmlns:a16="http://schemas.microsoft.com/office/drawing/2014/main" id="{26E9D7F3-86D8-48C6-A819-3BDF5A93C050}"/>
              </a:ext>
            </a:extLst>
          </p:cNvPr>
          <p:cNvSpPr>
            <a:spLocks xmlns:a="http://schemas.openxmlformats.org/drawingml/2006/main" noGrp="1"/>
          </p:cNvSpPr>
          <p:nvPr/>
        </p:nvSpPr>
        <p:spPr>
          <a:xfrm xmlns:a="http://schemas.openxmlformats.org/drawingml/2006/main">
            <a:off x="781050" y="328612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A9D8D2"/>
                </a:solidFill>
                <a:latin typeface="Arial"/>
                <a:ea typeface="Arial"/>
                <a:cs typeface="Arial"/>
              </a:defRPr>
            </a:defPPr>
          </a:lstStyle>
          <a:p xmlns:a="http://schemas.openxmlformats.org/drawingml/2006/main">
            <a:pPr>
              <a:defRPr sz="2400" b="0">
                <a:solidFill>
                  <a:srgbClr val="A9D8D2"/>
                </a:solidFill>
                <a:latin typeface="Arial"/>
                <a:ea typeface="Arial"/>
                <a:cs typeface="Arial"/>
              </a:defRPr>
            </a:pPr>
            <a:r>
              <a:rPr sz="2400" b="0">
                <a:solidFill>
                  <a:srgbClr val="A9D8D2"/>
                </a:solidFill>
                <a:latin typeface="Arial"/>
                <a:ea typeface="Arial"/>
                <a:cs typeface="Arial"/>
              </a:rPr>
              <a:t>Evidence before the 2026 midterm elections</a:t>
            </a:r>
          </a:p>
        </p:txBody>
      </p:sp>
      <p:sp>
        <p:nvSpPr>
          <p:cNvPr id="3" name="">
            <a:extLst xmlns:a="http://schemas.openxmlformats.org/drawingml/2006/main">
              <a:ext uri="{FF2B5EF4-FFF2-40B4-BE49-F238E27FC236}">
                <a16:creationId xmlns:a16="http://schemas.microsoft.com/office/drawing/2014/main" id="{2CC25C12-6F4F-4A33-82F9-E0EC7E97BD0E}"/>
              </a:ext>
            </a:extLst>
          </p:cNvPr>
          <p:cNvSpPr>
            <a:spLocks xmlns:a="http://schemas.openxmlformats.org/drawingml/2006/main" noGrp="1"/>
          </p:cNvSpPr>
          <p:nvPr/>
        </p:nvSpPr>
        <p:spPr>
          <a:xfrm xmlns:a="http://schemas.openxmlformats.org/drawingml/2006/main">
            <a:off x="781050" y="4905375"/>
            <a:ext cx="1000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CE6ED"/>
                </a:solidFill>
                <a:latin typeface="Arial"/>
                <a:ea typeface="Arial"/>
                <a:cs typeface="Arial"/>
              </a:defRPr>
            </a:defPPr>
          </a:lstStyle>
          <a:p xmlns:a="http://schemas.openxmlformats.org/drawingml/2006/main">
            <a:pPr>
              <a:defRPr sz="1875" b="0">
                <a:solidFill>
                  <a:srgbClr val="DCE6ED"/>
                </a:solidFill>
                <a:latin typeface="Arial"/>
                <a:ea typeface="Arial"/>
                <a:cs typeface="Arial"/>
              </a:defRPr>
            </a:pPr>
            <a:r>
              <a:rPr sz="1875" b="0">
                <a:solidFill>
                  <a:srgbClr val="DCE6ED"/>
                </a:solidFill>
                <a:latin typeface="Arial"/>
                <a:ea typeface="Arial"/>
                <a:cs typeface="Arial"/>
              </a:rPr>
              <a:t>AI Applications in Finance</a:t>
            </a:r>
          </a:p>
          <a:p xmlns:a="http://schemas.openxmlformats.org/drawingml/2006/main">
            <a:pPr>
              <a:defRPr sz="1875" b="0">
                <a:solidFill>
                  <a:srgbClr val="DCE6ED"/>
                </a:solidFill>
                <a:latin typeface="Arial"/>
                <a:ea typeface="Arial"/>
                <a:cs typeface="Arial"/>
              </a:defRPr>
            </a:pPr>
            <a:r>
              <a:rPr sz="1875" b="0">
                <a:solidFill>
                  <a:srgbClr val="DCE6ED"/>
                </a:solidFill>
                <a:latin typeface="Arial"/>
                <a:ea typeface="Arial"/>
                <a:cs typeface="Arial"/>
              </a:rPr>
              <a:t>Research cutoff 14 October 2026</a:t>
            </a:r>
          </a:p>
        </p:txBody>
      </p:sp>
    </p:spTree>
    <p:extLst>
      <p:ext uri="{BB962C8B-B14F-4D97-AF65-F5344CB8AC3E}">
        <p14:creationId xmlns:p14="http://schemas.microsoft.com/office/powerpoint/2010/main" val="10533086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9CC702-3A0B-4650-B81D-69F11664F383}"/>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Economic measurement and timing</a:t>
            </a:r>
          </a:p>
        </p:txBody>
      </p:sp>
      <p:sp>
        <p:nvSpPr>
          <p:cNvPr id="2" name="">
            <a:extLst xmlns:a="http://schemas.openxmlformats.org/drawingml/2006/main">
              <a:ext uri="{FF2B5EF4-FFF2-40B4-BE49-F238E27FC236}">
                <a16:creationId xmlns:a16="http://schemas.microsoft.com/office/drawing/2014/main" id="{087C4385-064D-4AF8-B7B4-EBABFFA6445C}"/>
              </a:ext>
            </a:extLst>
          </p:cNvPr>
          <p:cNvSpPr>
            <a:spLocks xmlns:a="http://schemas.openxmlformats.org/drawingml/2006/main" noGrp="1"/>
          </p:cNvSpPr>
          <p:nvPr/>
        </p:nvSpPr>
        <p:spPr>
          <a:xfrm xmlns:a="http://schemas.openxmlformats.org/drawingml/2006/main">
            <a:off x="74295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PCE inflation</a:t>
            </a:r>
          </a:p>
        </p:txBody>
      </p:sp>
      <p:sp>
        <p:nvSpPr>
          <p:cNvPr id="3" name="">
            <a:extLst xmlns:a="http://schemas.openxmlformats.org/drawingml/2006/main">
              <a:ext uri="{FF2B5EF4-FFF2-40B4-BE49-F238E27FC236}">
                <a16:creationId xmlns:a16="http://schemas.microsoft.com/office/drawing/2014/main" id="{4FC1E8DE-98B8-4B5C-8508-E39EBE982DF0}"/>
              </a:ext>
            </a:extLst>
          </p:cNvPr>
          <p:cNvSpPr>
            <a:spLocks xmlns:a="http://schemas.openxmlformats.org/drawingml/2006/main" noGrp="1"/>
          </p:cNvSpPr>
          <p:nvPr/>
        </p:nvSpPr>
        <p:spPr>
          <a:xfrm xmlns:a="http://schemas.openxmlformats.org/drawingml/2006/main">
            <a:off x="742950" y="2219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8354E"/>
                </a:solidFill>
                <a:latin typeface="Arial"/>
                <a:ea typeface="Arial"/>
                <a:cs typeface="Arial"/>
              </a:defRPr>
            </a:defPPr>
          </a:lstStyle>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3.01% supplied</a:t>
            </a:r>
          </a:p>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3.42% from the official index</a:t>
            </a:r>
          </a:p>
        </p:txBody>
      </p:sp>
      <p:sp>
        <p:nvSpPr>
          <p:cNvPr id="4" name="">
            <a:extLst xmlns:a="http://schemas.openxmlformats.org/drawingml/2006/main">
              <a:ext uri="{FF2B5EF4-FFF2-40B4-BE49-F238E27FC236}">
                <a16:creationId xmlns:a16="http://schemas.microsoft.com/office/drawing/2014/main" id="{6E26562A-F678-455D-8BF7-CAF78CC0C830}"/>
              </a:ext>
            </a:extLst>
          </p:cNvPr>
          <p:cNvSpPr>
            <a:spLocks xmlns:a="http://schemas.openxmlformats.org/drawingml/2006/main" noGrp="1"/>
          </p:cNvSpPr>
          <p:nvPr/>
        </p:nvSpPr>
        <p:spPr>
          <a:xfrm xmlns:a="http://schemas.openxmlformats.org/drawingml/2006/main">
            <a:off x="6477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GDP availability</a:t>
            </a:r>
          </a:p>
        </p:txBody>
      </p:sp>
      <p:sp>
        <p:nvSpPr>
          <p:cNvPr id="5" name="">
            <a:extLst xmlns:a="http://schemas.openxmlformats.org/drawingml/2006/main">
              <a:ext uri="{FF2B5EF4-FFF2-40B4-BE49-F238E27FC236}">
                <a16:creationId xmlns:a16="http://schemas.microsoft.com/office/drawing/2014/main" id="{531FFC86-FAF4-4255-90BD-B36DC9AA4D5C}"/>
              </a:ext>
            </a:extLst>
          </p:cNvPr>
          <p:cNvSpPr>
            <a:spLocks xmlns:a="http://schemas.openxmlformats.org/drawingml/2006/main" noGrp="1"/>
          </p:cNvSpPr>
          <p:nvPr/>
        </p:nvSpPr>
        <p:spPr>
          <a:xfrm xmlns:a="http://schemas.openxmlformats.org/drawingml/2006/main">
            <a:off x="6477000" y="2219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8354E"/>
                </a:solidFill>
                <a:latin typeface="Arial"/>
                <a:ea typeface="Arial"/>
                <a:cs typeface="Arial"/>
              </a:defRPr>
            </a:defPPr>
          </a:lstStyle>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2026Q3 advance release</a:t>
            </a:r>
          </a:p>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29 October, after the cutoff</a:t>
            </a:r>
          </a:p>
        </p:txBody>
      </p:sp>
      <p:sp>
        <p:nvSpPr>
          <p:cNvPr id="6" name="">
            <a:extLst xmlns:a="http://schemas.openxmlformats.org/drawingml/2006/main">
              <a:ext uri="{FF2B5EF4-FFF2-40B4-BE49-F238E27FC236}">
                <a16:creationId xmlns:a16="http://schemas.microsoft.com/office/drawing/2014/main" id="{D20CCEB9-FDF0-4369-8BBA-9B18B920F940}"/>
              </a:ext>
            </a:extLst>
          </p:cNvPr>
          <p:cNvSpPr>
            <a:spLocks xmlns:a="http://schemas.openxmlformats.org/drawingml/2006/main" noGrp="1"/>
          </p:cNvSpPr>
          <p:nvPr/>
        </p:nvSpPr>
        <p:spPr>
          <a:xfrm xmlns:a="http://schemas.openxmlformats.org/drawingml/2006/main">
            <a:off x="742950" y="38290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Survey status</a:t>
            </a:r>
          </a:p>
        </p:txBody>
      </p:sp>
      <p:sp>
        <p:nvSpPr>
          <p:cNvPr id="7" name="">
            <a:extLst xmlns:a="http://schemas.openxmlformats.org/drawingml/2006/main">
              <a:ext uri="{FF2B5EF4-FFF2-40B4-BE49-F238E27FC236}">
                <a16:creationId xmlns:a16="http://schemas.microsoft.com/office/drawing/2014/main" id="{B1B22A80-BC11-4F71-B0A6-BA73941B1A0D}"/>
              </a:ext>
            </a:extLst>
          </p:cNvPr>
          <p:cNvSpPr>
            <a:spLocks xmlns:a="http://schemas.openxmlformats.org/drawingml/2006/main" noGrp="1"/>
          </p:cNvSpPr>
          <p:nvPr/>
        </p:nvSpPr>
        <p:spPr>
          <a:xfrm xmlns:a="http://schemas.openxmlformats.org/drawingml/2006/main">
            <a:off x="742950" y="43338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54E"/>
                </a:solidFill>
                <a:latin typeface="Arial"/>
                <a:ea typeface="Arial"/>
                <a:cs typeface="Arial"/>
              </a:defRPr>
            </a:defPPr>
          </a:lstStyle>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October sentiment 46.3</a:t>
            </a:r>
          </a:p>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Preliminary release on 9 October</a:t>
            </a:r>
          </a:p>
        </p:txBody>
      </p:sp>
      <p:sp>
        <p:nvSpPr>
          <p:cNvPr id="8" name="">
            <a:extLst xmlns:a="http://schemas.openxmlformats.org/drawingml/2006/main">
              <a:ext uri="{FF2B5EF4-FFF2-40B4-BE49-F238E27FC236}">
                <a16:creationId xmlns:a16="http://schemas.microsoft.com/office/drawing/2014/main" id="{121939B0-B7F4-4F45-AA7E-E96428671C39}"/>
              </a:ext>
            </a:extLst>
          </p:cNvPr>
          <p:cNvSpPr>
            <a:spLocks xmlns:a="http://schemas.openxmlformats.org/drawingml/2006/main" noGrp="1"/>
          </p:cNvSpPr>
          <p:nvPr/>
        </p:nvSpPr>
        <p:spPr>
          <a:xfrm xmlns:a="http://schemas.openxmlformats.org/drawingml/2006/main">
            <a:off x="6477000" y="38290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Missing unemployment</a:t>
            </a:r>
          </a:p>
        </p:txBody>
      </p:sp>
      <p:sp>
        <p:nvSpPr>
          <p:cNvPr id="9" name="">
            <a:extLst xmlns:a="http://schemas.openxmlformats.org/drawingml/2006/main">
              <a:ext uri="{FF2B5EF4-FFF2-40B4-BE49-F238E27FC236}">
                <a16:creationId xmlns:a16="http://schemas.microsoft.com/office/drawing/2014/main" id="{464AD782-9212-4774-BE68-A2EDEBE04F3E}"/>
              </a:ext>
            </a:extLst>
          </p:cNvPr>
          <p:cNvSpPr>
            <a:spLocks xmlns:a="http://schemas.openxmlformats.org/drawingml/2006/main" noGrp="1"/>
          </p:cNvSpPr>
          <p:nvPr/>
        </p:nvSpPr>
        <p:spPr>
          <a:xfrm xmlns:a="http://schemas.openxmlformats.org/drawingml/2006/main">
            <a:off x="6477000" y="43338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54E"/>
                </a:solidFill>
                <a:latin typeface="Arial"/>
                <a:ea typeface="Arial"/>
                <a:cs typeface="Arial"/>
              </a:defRPr>
            </a:defPPr>
          </a:lstStyle>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October 2025 survey interruption</a:t>
            </a:r>
          </a:p>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No zero fill or interpolation</a:t>
            </a:r>
          </a:p>
        </p:txBody>
      </p:sp>
    </p:spTree>
    <p:extLst>
      <p:ext uri="{BB962C8B-B14F-4D97-AF65-F5344CB8AC3E}">
        <p14:creationId xmlns:p14="http://schemas.microsoft.com/office/powerpoint/2010/main" val="1653332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DFC6AE-C4DA-407A-A7D0-A1FEE4EBD333}"/>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Forecasts use information available at each origin</a:t>
            </a:r>
          </a:p>
        </p:txBody>
      </p:sp>
      <p:sp>
        <p:nvSpPr>
          <p:cNvPr id="2" name="">
            <a:extLst xmlns:a="http://schemas.openxmlformats.org/drawingml/2006/main">
              <a:ext uri="{FF2B5EF4-FFF2-40B4-BE49-F238E27FC236}">
                <a16:creationId xmlns:a16="http://schemas.microsoft.com/office/drawing/2014/main" id="{41AE269F-992C-4705-8494-72C68D8A7D2A}"/>
              </a:ext>
            </a:extLst>
          </p:cNvPr>
          <p:cNvSpPr>
            <a:spLocks xmlns:a="http://schemas.openxmlformats.org/drawingml/2006/main" noGrp="1"/>
          </p:cNvSpPr>
          <p:nvPr/>
        </p:nvSpPr>
        <p:spPr>
          <a:xfrm xmlns:a="http://schemas.openxmlformats.org/drawingml/2006/main">
            <a:off x="762000" y="1762125"/>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00867D"/>
                </a:solidFill>
                <a:latin typeface="Arial"/>
                <a:ea typeface="Arial"/>
                <a:cs typeface="Arial"/>
              </a:defRPr>
            </a:defPPr>
          </a:lstStyle>
          <a:p xmlns:a="http://schemas.openxmlformats.org/drawingml/2006/main">
            <a:pPr>
              <a:defRPr sz="7050" b="1">
                <a:solidFill>
                  <a:srgbClr val="00867D"/>
                </a:solidFill>
                <a:latin typeface="Arial"/>
                <a:ea typeface="Arial"/>
                <a:cs typeface="Arial"/>
              </a:defRPr>
            </a:pPr>
            <a:r>
              <a:rPr sz="7050" b="1">
                <a:solidFill>
                  <a:srgbClr val="00867D"/>
                </a:solidFill>
                <a:latin typeface="Arial"/>
                <a:ea typeface="Arial"/>
                <a:cs typeface="Arial"/>
              </a:rPr>
              <a:t>202</a:t>
            </a:r>
          </a:p>
        </p:txBody>
      </p:sp>
      <p:sp>
        <p:nvSpPr>
          <p:cNvPr id="3" name="">
            <a:extLst xmlns:a="http://schemas.openxmlformats.org/drawingml/2006/main">
              <a:ext uri="{FF2B5EF4-FFF2-40B4-BE49-F238E27FC236}">
                <a16:creationId xmlns:a16="http://schemas.microsoft.com/office/drawing/2014/main" id="{F51E0FB3-FF89-4EEF-8B36-480579CFD82E}"/>
              </a:ext>
            </a:extLst>
          </p:cNvPr>
          <p:cNvSpPr>
            <a:spLocks xmlns:a="http://schemas.openxmlformats.org/drawingml/2006/main" noGrp="1"/>
          </p:cNvSpPr>
          <p:nvPr/>
        </p:nvSpPr>
        <p:spPr>
          <a:xfrm xmlns:a="http://schemas.openxmlformats.org/drawingml/2006/main">
            <a:off x="762000" y="3000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verified monthly snapshots</a:t>
            </a:r>
          </a:p>
        </p:txBody>
      </p:sp>
      <p:sp>
        <p:nvSpPr>
          <p:cNvPr id="4" name="">
            <a:extLst xmlns:a="http://schemas.openxmlformats.org/drawingml/2006/main">
              <a:ext uri="{FF2B5EF4-FFF2-40B4-BE49-F238E27FC236}">
                <a16:creationId xmlns:a16="http://schemas.microsoft.com/office/drawing/2014/main" id="{88F89337-BE9F-4BEF-9FDC-8D3A8FDBB8B4}"/>
              </a:ext>
            </a:extLst>
          </p:cNvPr>
          <p:cNvSpPr>
            <a:spLocks xmlns:a="http://schemas.openxmlformats.org/drawingml/2006/main" noGrp="1"/>
          </p:cNvSpPr>
          <p:nvPr/>
        </p:nvSpPr>
        <p:spPr>
          <a:xfrm xmlns:a="http://schemas.openxmlformats.org/drawingml/2006/main">
            <a:off x="6667500" y="176212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00867D"/>
                </a:solidFill>
                <a:latin typeface="Arial"/>
                <a:ea typeface="Arial"/>
                <a:cs typeface="Arial"/>
              </a:defRPr>
            </a:defPPr>
          </a:lstStyle>
          <a:p xmlns:a="http://schemas.openxmlformats.org/drawingml/2006/main">
            <a:pPr>
              <a:defRPr sz="7050" b="1">
                <a:solidFill>
                  <a:srgbClr val="00867D"/>
                </a:solidFill>
                <a:latin typeface="Arial"/>
                <a:ea typeface="Arial"/>
                <a:cs typeface="Arial"/>
              </a:defRPr>
            </a:pPr>
            <a:r>
              <a:rPr sz="7050" b="1">
                <a:solidFill>
                  <a:srgbClr val="00867D"/>
                </a:solidFill>
                <a:latin typeface="Arial"/>
                <a:ea typeface="Arial"/>
                <a:cs typeface="Arial"/>
              </a:rPr>
              <a:t>105</a:t>
            </a:r>
          </a:p>
        </p:txBody>
      </p:sp>
      <p:sp>
        <p:nvSpPr>
          <p:cNvPr id="5" name="">
            <a:extLst xmlns:a="http://schemas.openxmlformats.org/drawingml/2006/main">
              <a:ext uri="{FF2B5EF4-FFF2-40B4-BE49-F238E27FC236}">
                <a16:creationId xmlns:a16="http://schemas.microsoft.com/office/drawing/2014/main" id="{A56DF497-6E29-40E7-B357-1517E86B8D05}"/>
              </a:ext>
            </a:extLst>
          </p:cNvPr>
          <p:cNvSpPr>
            <a:spLocks xmlns:a="http://schemas.openxmlformats.org/drawingml/2006/main" noGrp="1"/>
          </p:cNvSpPr>
          <p:nvPr/>
        </p:nvSpPr>
        <p:spPr>
          <a:xfrm xmlns:a="http://schemas.openxmlformats.org/drawingml/2006/main">
            <a:off x="6667500" y="3000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final monthly forecast outcomes</a:t>
            </a:r>
          </a:p>
        </p:txBody>
      </p:sp>
      <p:sp>
        <p:nvSpPr>
          <p:cNvPr id="6" name="">
            <a:extLst xmlns:a="http://schemas.openxmlformats.org/drawingml/2006/main">
              <a:ext uri="{FF2B5EF4-FFF2-40B4-BE49-F238E27FC236}">
                <a16:creationId xmlns:a16="http://schemas.microsoft.com/office/drawing/2014/main" id="{087B3CB1-406F-42FF-94BB-27BE3CF4ADF0}"/>
              </a:ext>
            </a:extLst>
          </p:cNvPr>
          <p:cNvSpPr>
            <a:spLocks xmlns:a="http://schemas.openxmlformats.org/drawingml/2006/main" noGrp="1"/>
          </p:cNvSpPr>
          <p:nvPr/>
        </p:nvSpPr>
        <p:spPr>
          <a:xfrm xmlns:a="http://schemas.openxmlformats.org/drawingml/2006/main">
            <a:off x="762000" y="4238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Estimation begins January 2010</a:t>
            </a:r>
          </a:p>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Evaluation January 2018 to September 2026</a:t>
            </a:r>
          </a:p>
        </p:txBody>
      </p:sp>
      <p:sp>
        <p:nvSpPr>
          <p:cNvPr id="7" name="">
            <a:extLst xmlns:a="http://schemas.openxmlformats.org/drawingml/2006/main">
              <a:ext uri="{FF2B5EF4-FFF2-40B4-BE49-F238E27FC236}">
                <a16:creationId xmlns:a16="http://schemas.microsoft.com/office/drawing/2014/main" id="{A2D53854-F07F-43CE-8DCF-ED2821303606}"/>
              </a:ext>
            </a:extLst>
          </p:cNvPr>
          <p:cNvSpPr>
            <a:spLocks xmlns:a="http://schemas.openxmlformats.org/drawingml/2006/main" noGrp="1"/>
          </p:cNvSpPr>
          <p:nvPr/>
        </p:nvSpPr>
        <p:spPr>
          <a:xfrm xmlns:a="http://schemas.openxmlformats.org/drawingml/2006/main">
            <a:off x="762000" y="54768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Training outcomes, predictor revisions and interval calibration</a:t>
            </a:r>
          </a:p>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respect the economic vintage at the forecast origin.</a:t>
            </a:r>
          </a:p>
        </p:txBody>
      </p:sp>
    </p:spTree>
    <p:extLst>
      <p:ext uri="{BB962C8B-B14F-4D97-AF65-F5344CB8AC3E}">
        <p14:creationId xmlns:p14="http://schemas.microsoft.com/office/powerpoint/2010/main" val="13397130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6612F6A-3706-4C02-B9FF-63E13D99A39C}"/>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Persistence outperforms the economic specifications</a:t>
            </a:r>
          </a:p>
        </p:txBody>
      </p:sp>
      <p:graphicFrame>
        <p:nvGraphicFramePr>
          <p:cNvPr id="2" name="Chart">
            <a:extLst xmlns:a="http://schemas.openxmlformats.org/drawingml/2006/main">
              <a:ext uri="{FF2B5EF4-FFF2-40B4-BE49-F238E27FC236}">
                <a16:creationId xmlns:a16="http://schemas.microsoft.com/office/drawing/2014/main" id="{63836979-8239-4EF3-8F8F-5D65D7CAEF61}"/>
              </a:ext>
            </a:extLst>
          </p:cNvPr>
          <p:cNvGraphicFramePr/>
          <p:nvPr/>
        </p:nvGraphicFramePr>
        <p:xfrm>
          <a:off xmlns:a="http://schemas.openxmlformats.org/drawingml/2006/main" x="666750" y="1666875"/>
          <a:ext xmlns:a="http://schemas.openxmlformats.org/drawingml/2006/main" cx="10763250" cy="3476625"/>
        </p:xfrm>
        <a:graphic xmlns:a="http://schemas.openxmlformats.org/drawingml/2006/main">
          <a:graphicData uri="http://schemas.openxmlformats.org/drawingml/2006/chart">
            <c:chart xmlns:r="http://schemas.openxmlformats.org/officeDocument/2006/relationships" xmlns:c="http://schemas.openxmlformats.org/drawingml/2006/chart" r:id="R9aa12e5be4514983"/>
          </a:graphicData>
        </a:graphic>
      </p:graphicFrame>
      <p:sp>
        <p:nvSpPr>
          <p:cNvPr id="3" name="">
            <a:extLst xmlns:a="http://schemas.openxmlformats.org/drawingml/2006/main">
              <a:ext uri="{FF2B5EF4-FFF2-40B4-BE49-F238E27FC236}">
                <a16:creationId xmlns:a16="http://schemas.microsoft.com/office/drawing/2014/main" id="{14D9C5E0-5AD6-4291-B443-9E197496B145}"/>
              </a:ext>
            </a:extLst>
          </p:cNvPr>
          <p:cNvSpPr>
            <a:spLocks xmlns:a="http://schemas.openxmlformats.org/drawingml/2006/main" noGrp="1"/>
          </p:cNvSpPr>
          <p:nvPr/>
        </p:nvSpPr>
        <p:spPr>
          <a:xfrm xmlns:a="http://schemas.openxmlformats.org/drawingml/2006/main">
            <a:off x="762000" y="5619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C6D79"/>
                </a:solidFill>
                <a:latin typeface="Arial"/>
                <a:ea typeface="Arial"/>
                <a:cs typeface="Arial"/>
              </a:defRPr>
            </a:defPPr>
          </a:lstStyle>
          <a:p xmlns:a="http://schemas.openxmlformats.org/drawingml/2006/main">
            <a:pPr>
              <a:defRPr sz="1950" b="0">
                <a:solidFill>
                  <a:srgbClr val="5C6D79"/>
                </a:solidFill>
                <a:latin typeface="Arial"/>
                <a:ea typeface="Arial"/>
                <a:cs typeface="Arial"/>
              </a:defRPr>
            </a:pPr>
            <a:r>
              <a:rPr sz="1950" b="0">
                <a:solidFill>
                  <a:srgbClr val="5C6D79"/>
                </a:solidFill>
                <a:latin typeface="Arial"/>
                <a:ea typeface="Arial"/>
                <a:cs typeface="Arial"/>
              </a:rPr>
              <a:t>RMSE in Michigan index points. Lower is better.</a:t>
            </a:r>
          </a:p>
        </p:txBody>
      </p:sp>
    </p:spTree>
    <p:extLst>
      <p:ext uri="{BB962C8B-B14F-4D97-AF65-F5344CB8AC3E}">
        <p14:creationId xmlns:p14="http://schemas.microsoft.com/office/powerpoint/2010/main" val="4791814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A6A5D3-8E5B-48EE-ABEC-1E9412BA8441}"/>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The October sentiment gap depends on the model</a:t>
            </a:r>
          </a:p>
        </p:txBody>
      </p:sp>
      <p:sp>
        <p:nvSpPr>
          <p:cNvPr id="2" name="">
            <a:extLst xmlns:a="http://schemas.openxmlformats.org/drawingml/2006/main">
              <a:ext uri="{FF2B5EF4-FFF2-40B4-BE49-F238E27FC236}">
                <a16:creationId xmlns:a16="http://schemas.microsoft.com/office/drawing/2014/main" id="{764E7BB8-4845-473A-9287-BA93401B97FF}"/>
              </a:ext>
            </a:extLst>
          </p:cNvPr>
          <p:cNvSpPr>
            <a:spLocks xmlns:a="http://schemas.openxmlformats.org/drawingml/2006/main" noGrp="1"/>
          </p:cNvSpPr>
          <p:nvPr/>
        </p:nvSpPr>
        <p:spPr>
          <a:xfrm xmlns:a="http://schemas.openxmlformats.org/drawingml/2006/main">
            <a:off x="762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Economic model</a:t>
            </a:r>
          </a:p>
        </p:txBody>
      </p:sp>
      <p:sp>
        <p:nvSpPr>
          <p:cNvPr id="3" name="">
            <a:extLst xmlns:a="http://schemas.openxmlformats.org/drawingml/2006/main">
              <a:ext uri="{FF2B5EF4-FFF2-40B4-BE49-F238E27FC236}">
                <a16:creationId xmlns:a16="http://schemas.microsoft.com/office/drawing/2014/main" id="{6E9ED886-9816-41B9-B1A4-8D06E8EF4A3F}"/>
              </a:ext>
            </a:extLst>
          </p:cNvPr>
          <p:cNvSpPr>
            <a:spLocks xmlns:a="http://schemas.openxmlformats.org/drawingml/2006/main" noGrp="1"/>
          </p:cNvSpPr>
          <p:nvPr/>
        </p:nvSpPr>
        <p:spPr>
          <a:xfrm xmlns:a="http://schemas.openxmlformats.org/drawingml/2006/main">
            <a:off x="762000" y="220980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B4533B"/>
                </a:solidFill>
                <a:latin typeface="Arial"/>
                <a:ea typeface="Arial"/>
                <a:cs typeface="Arial"/>
              </a:defRPr>
            </a:defPPr>
          </a:lstStyle>
          <a:p xmlns:a="http://schemas.openxmlformats.org/drawingml/2006/main">
            <a:pPr>
              <a:defRPr sz="6900" b="1">
                <a:solidFill>
                  <a:srgbClr val="B4533B"/>
                </a:solidFill>
                <a:latin typeface="Arial"/>
                <a:ea typeface="Arial"/>
                <a:cs typeface="Arial"/>
              </a:defRPr>
            </a:pPr>
            <a:r>
              <a:rPr sz="6900" b="1">
                <a:solidFill>
                  <a:srgbClr val="B4533B"/>
                </a:solidFill>
                <a:latin typeface="Arial"/>
                <a:ea typeface="Arial"/>
                <a:cs typeface="Arial"/>
              </a:rPr>
              <a:t>-26.55</a:t>
            </a:r>
          </a:p>
        </p:txBody>
      </p:sp>
      <p:sp>
        <p:nvSpPr>
          <p:cNvPr id="4" name="">
            <a:extLst xmlns:a="http://schemas.openxmlformats.org/drawingml/2006/main">
              <a:ext uri="{FF2B5EF4-FFF2-40B4-BE49-F238E27FC236}">
                <a16:creationId xmlns:a16="http://schemas.microsoft.com/office/drawing/2014/main" id="{A1AD0BB1-05D4-4404-8496-FF6D27E65C9F}"/>
              </a:ext>
            </a:extLst>
          </p:cNvPr>
          <p:cNvSpPr>
            <a:spLocks xmlns:a="http://schemas.openxmlformats.org/drawingml/2006/main" noGrp="1"/>
          </p:cNvSpPr>
          <p:nvPr/>
        </p:nvSpPr>
        <p:spPr>
          <a:xfrm xmlns:a="http://schemas.openxmlformats.org/drawingml/2006/main">
            <a:off x="762000" y="35718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Observed minus forecast</a:t>
            </a:r>
          </a:p>
        </p:txBody>
      </p:sp>
      <p:sp>
        <p:nvSpPr>
          <p:cNvPr id="5" name="">
            <a:extLst xmlns:a="http://schemas.openxmlformats.org/drawingml/2006/main">
              <a:ext uri="{FF2B5EF4-FFF2-40B4-BE49-F238E27FC236}">
                <a16:creationId xmlns:a16="http://schemas.microsoft.com/office/drawing/2014/main" id="{4A5534C2-3333-4B78-8D8C-6B8B7B62F6E5}"/>
              </a:ext>
            </a:extLst>
          </p:cNvPr>
          <p:cNvSpPr>
            <a:spLocks xmlns:a="http://schemas.openxmlformats.org/drawingml/2006/main" noGrp="1"/>
          </p:cNvSpPr>
          <p:nvPr/>
        </p:nvSpPr>
        <p:spPr>
          <a:xfrm xmlns:a="http://schemas.openxmlformats.org/drawingml/2006/main">
            <a:off x="762000" y="457200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95% interval for sentiment</a:t>
            </a:r>
          </a:p>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42.26 to 103.43</a:t>
            </a:r>
          </a:p>
        </p:txBody>
      </p:sp>
      <p:sp>
        <p:nvSpPr>
          <p:cNvPr id="6" name="">
            <a:extLst xmlns:a="http://schemas.openxmlformats.org/drawingml/2006/main">
              <a:ext uri="{FF2B5EF4-FFF2-40B4-BE49-F238E27FC236}">
                <a16:creationId xmlns:a16="http://schemas.microsoft.com/office/drawing/2014/main" id="{89D575D4-D311-4768-8C30-2CB8C5449F7A}"/>
              </a:ext>
            </a:extLst>
          </p:cNvPr>
          <p:cNvSpPr>
            <a:spLocks xmlns:a="http://schemas.openxmlformats.org/drawingml/2006/main" noGrp="1"/>
          </p:cNvSpPr>
          <p:nvPr/>
        </p:nvSpPr>
        <p:spPr>
          <a:xfrm xmlns:a="http://schemas.openxmlformats.org/drawingml/2006/main">
            <a:off x="6477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Economic model plus recent sentiment</a:t>
            </a:r>
          </a:p>
        </p:txBody>
      </p:sp>
      <p:sp>
        <p:nvSpPr>
          <p:cNvPr id="7" name="">
            <a:extLst xmlns:a="http://schemas.openxmlformats.org/drawingml/2006/main">
              <a:ext uri="{FF2B5EF4-FFF2-40B4-BE49-F238E27FC236}">
                <a16:creationId xmlns:a16="http://schemas.microsoft.com/office/drawing/2014/main" id="{600731C4-FA90-4D40-A81F-83C9C8029984}"/>
              </a:ext>
            </a:extLst>
          </p:cNvPr>
          <p:cNvSpPr>
            <a:spLocks xmlns:a="http://schemas.openxmlformats.org/drawingml/2006/main" noGrp="1"/>
          </p:cNvSpPr>
          <p:nvPr/>
        </p:nvSpPr>
        <p:spPr>
          <a:xfrm xmlns:a="http://schemas.openxmlformats.org/drawingml/2006/main">
            <a:off x="6477000" y="220980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00867D"/>
                </a:solidFill>
                <a:latin typeface="Arial"/>
                <a:ea typeface="Arial"/>
                <a:cs typeface="Arial"/>
              </a:defRPr>
            </a:defPPr>
          </a:lstStyle>
          <a:p xmlns:a="http://schemas.openxmlformats.org/drawingml/2006/main">
            <a:pPr>
              <a:defRPr sz="6900" b="1">
                <a:solidFill>
                  <a:srgbClr val="00867D"/>
                </a:solidFill>
                <a:latin typeface="Arial"/>
                <a:ea typeface="Arial"/>
                <a:cs typeface="Arial"/>
              </a:defRPr>
            </a:pPr>
            <a:r>
              <a:rPr sz="6900" b="1">
                <a:solidFill>
                  <a:srgbClr val="00867D"/>
                </a:solidFill>
                <a:latin typeface="Arial"/>
                <a:ea typeface="Arial"/>
                <a:cs typeface="Arial"/>
              </a:rPr>
              <a:t>-6.81</a:t>
            </a:r>
          </a:p>
        </p:txBody>
      </p:sp>
      <p:sp>
        <p:nvSpPr>
          <p:cNvPr id="8" name="">
            <a:extLst xmlns:a="http://schemas.openxmlformats.org/drawingml/2006/main">
              <a:ext uri="{FF2B5EF4-FFF2-40B4-BE49-F238E27FC236}">
                <a16:creationId xmlns:a16="http://schemas.microsoft.com/office/drawing/2014/main" id="{384ECF2B-DED3-428B-8AED-A85D8FD6B706}"/>
              </a:ext>
            </a:extLst>
          </p:cNvPr>
          <p:cNvSpPr>
            <a:spLocks xmlns:a="http://schemas.openxmlformats.org/drawingml/2006/main" noGrp="1"/>
          </p:cNvSpPr>
          <p:nvPr/>
        </p:nvSpPr>
        <p:spPr>
          <a:xfrm xmlns:a="http://schemas.openxmlformats.org/drawingml/2006/main">
            <a:off x="6477000" y="35718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Observed minus forecast</a:t>
            </a:r>
          </a:p>
        </p:txBody>
      </p:sp>
      <p:sp>
        <p:nvSpPr>
          <p:cNvPr id="9" name="">
            <a:extLst xmlns:a="http://schemas.openxmlformats.org/drawingml/2006/main">
              <a:ext uri="{FF2B5EF4-FFF2-40B4-BE49-F238E27FC236}">
                <a16:creationId xmlns:a16="http://schemas.microsoft.com/office/drawing/2014/main" id="{3109DCAD-003E-4720-8B66-0276325DEE9E}"/>
              </a:ext>
            </a:extLst>
          </p:cNvPr>
          <p:cNvSpPr>
            <a:spLocks xmlns:a="http://schemas.openxmlformats.org/drawingml/2006/main" noGrp="1"/>
          </p:cNvSpPr>
          <p:nvPr/>
        </p:nvSpPr>
        <p:spPr>
          <a:xfrm xmlns:a="http://schemas.openxmlformats.org/drawingml/2006/main">
            <a:off x="6477000" y="457200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95% interval for sentiment</a:t>
            </a:r>
          </a:p>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43.43 to 62.78</a:t>
            </a:r>
          </a:p>
        </p:txBody>
      </p:sp>
      <p:sp>
        <p:nvSpPr>
          <p:cNvPr id="10" name="">
            <a:extLst xmlns:a="http://schemas.openxmlformats.org/drawingml/2006/main">
              <a:ext uri="{FF2B5EF4-FFF2-40B4-BE49-F238E27FC236}">
                <a16:creationId xmlns:a16="http://schemas.microsoft.com/office/drawing/2014/main" id="{803D64FD-2CF1-4E15-9E8E-DAE883110D0F}"/>
              </a:ext>
            </a:extLst>
          </p:cNvPr>
          <p:cNvSpPr>
            <a:spLocks xmlns:a="http://schemas.openxmlformats.org/drawingml/2006/main" noGrp="1"/>
          </p:cNvSpPr>
          <p:nvPr/>
        </p:nvSpPr>
        <p:spPr>
          <a:xfrm xmlns:a="http://schemas.openxmlformats.org/drawingml/2006/main">
            <a:off x="7620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C6D79"/>
                </a:solidFill>
                <a:latin typeface="Arial"/>
                <a:ea typeface="Arial"/>
                <a:cs typeface="Arial"/>
              </a:defRPr>
            </a:defPPr>
          </a:lstStyle>
          <a:p xmlns:a="http://schemas.openxmlformats.org/drawingml/2006/main">
            <a:pPr>
              <a:defRPr sz="1725" b="0">
                <a:solidFill>
                  <a:srgbClr val="5C6D79"/>
                </a:solidFill>
                <a:latin typeface="Arial"/>
                <a:ea typeface="Arial"/>
                <a:cs typeface="Arial"/>
              </a:defRPr>
            </a:pPr>
            <a:r>
              <a:rPr sz="1725" b="0">
                <a:solidFill>
                  <a:srgbClr val="5C6D79"/>
                </a:solidFill>
                <a:latin typeface="Arial"/>
                <a:ea typeface="Arial"/>
                <a:cs typeface="Arial"/>
              </a:rPr>
              <a:t>October observed index 46.3 is preliminary and falls inside both intervals.</a:t>
            </a:r>
          </a:p>
        </p:txBody>
      </p:sp>
    </p:spTree>
    <p:extLst>
      <p:ext uri="{BB962C8B-B14F-4D97-AF65-F5344CB8AC3E}">
        <p14:creationId xmlns:p14="http://schemas.microsoft.com/office/powerpoint/2010/main" val="10271572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1F420F-7091-4E1A-AFD5-6F42FEBFAE08}"/>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A recent media pilot with an external NLP benchmark</a:t>
            </a:r>
          </a:p>
        </p:txBody>
      </p:sp>
      <p:sp>
        <p:nvSpPr>
          <p:cNvPr id="2" name="">
            <a:extLst xmlns:a="http://schemas.openxmlformats.org/drawingml/2006/main">
              <a:ext uri="{FF2B5EF4-FFF2-40B4-BE49-F238E27FC236}">
                <a16:creationId xmlns:a16="http://schemas.microsoft.com/office/drawing/2014/main" id="{D13EE4AD-33B7-4B33-A299-D31E8BAB6BBC}"/>
              </a:ext>
            </a:extLst>
          </p:cNvPr>
          <p:cNvSpPr>
            <a:spLocks xmlns:a="http://schemas.openxmlformats.org/drawingml/2006/main" noGrp="1"/>
          </p:cNvSpPr>
          <p:nvPr/>
        </p:nvSpPr>
        <p:spPr>
          <a:xfrm xmlns:a="http://schemas.openxmlformats.org/drawingml/2006/main">
            <a:off x="742950" y="1666875"/>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0867D"/>
                </a:solidFill>
                <a:latin typeface="Arial"/>
                <a:ea typeface="Arial"/>
                <a:cs typeface="Arial"/>
              </a:defRPr>
            </a:defPPr>
          </a:lstStyle>
          <a:p xmlns:a="http://schemas.openxmlformats.org/drawingml/2006/main">
            <a:pPr>
              <a:defRPr sz="3900" b="1">
                <a:solidFill>
                  <a:srgbClr val="00867D"/>
                </a:solidFill>
                <a:latin typeface="Arial"/>
                <a:ea typeface="Arial"/>
                <a:cs typeface="Arial"/>
              </a:defRPr>
            </a:pPr>
            <a:r>
              <a:rPr sz="3900" b="1">
                <a:solidFill>
                  <a:srgbClr val="00867D"/>
                </a:solidFill>
                <a:latin typeface="Arial"/>
                <a:ea typeface="Arial"/>
                <a:cs typeface="Arial"/>
              </a:rPr>
              <a:t>316 items</a:t>
            </a:r>
          </a:p>
        </p:txBody>
      </p:sp>
      <p:sp>
        <p:nvSpPr>
          <p:cNvPr id="3" name="">
            <a:extLst xmlns:a="http://schemas.openxmlformats.org/drawingml/2006/main">
              <a:ext uri="{FF2B5EF4-FFF2-40B4-BE49-F238E27FC236}">
                <a16:creationId xmlns:a16="http://schemas.microsoft.com/office/drawing/2014/main" id="{062B7A3E-16A4-4BCD-BA64-18E9784FED10}"/>
              </a:ext>
            </a:extLst>
          </p:cNvPr>
          <p:cNvSpPr>
            <a:spLocks xmlns:a="http://schemas.openxmlformats.org/drawingml/2006/main" noGrp="1"/>
          </p:cNvSpPr>
          <p:nvPr/>
        </p:nvSpPr>
        <p:spPr>
          <a:xfrm xmlns:a="http://schemas.openxmlformats.org/drawingml/2006/main">
            <a:off x="762000" y="2619375"/>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54E"/>
                </a:solidFill>
                <a:latin typeface="Arial"/>
                <a:ea typeface="Arial"/>
                <a:cs typeface="Arial"/>
              </a:defRPr>
            </a:defPPr>
          </a:lstStyle>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127 national news</a:t>
            </a:r>
          </a:p>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33 local news</a:t>
            </a:r>
          </a:p>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156 Reddit titles</a:t>
            </a:r>
          </a:p>
        </p:txBody>
      </p:sp>
      <p:sp>
        <p:nvSpPr>
          <p:cNvPr id="4" name="">
            <a:extLst xmlns:a="http://schemas.openxmlformats.org/drawingml/2006/main">
              <a:ext uri="{FF2B5EF4-FFF2-40B4-BE49-F238E27FC236}">
                <a16:creationId xmlns:a16="http://schemas.microsoft.com/office/drawing/2014/main" id="{28DCA266-B2A0-425F-9A04-27E24C55BD2C}"/>
              </a:ext>
            </a:extLst>
          </p:cNvPr>
          <p:cNvSpPr>
            <a:spLocks xmlns:a="http://schemas.openxmlformats.org/drawingml/2006/main" noGrp="1"/>
          </p:cNvSpPr>
          <p:nvPr/>
        </p:nvSpPr>
        <p:spPr>
          <a:xfrm xmlns:a="http://schemas.openxmlformats.org/drawingml/2006/main">
            <a:off x="762000" y="461962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C6D79"/>
                </a:solidFill>
                <a:latin typeface="Arial"/>
                <a:ea typeface="Arial"/>
                <a:cs typeface="Arial"/>
              </a:defRPr>
            </a:defPPr>
          </a:lstStyle>
          <a:p xmlns:a="http://schemas.openxmlformats.org/drawingml/2006/main">
            <a:pPr>
              <a:defRPr sz="2025" b="0">
                <a:solidFill>
                  <a:srgbClr val="5C6D79"/>
                </a:solidFill>
                <a:latin typeface="Arial"/>
                <a:ea typeface="Arial"/>
                <a:cs typeface="Arial"/>
              </a:defRPr>
            </a:pPr>
            <a:r>
              <a:rPr sz="2025" b="0">
                <a:solidFill>
                  <a:srgbClr val="5C6D79"/>
                </a:solidFill>
                <a:latin typeface="Arial"/>
                <a:ea typeface="Arial"/>
                <a:cs typeface="Arial"/>
              </a:rPr>
              <a:t>July to 14 October 2026</a:t>
            </a:r>
          </a:p>
          <a:p xmlns:a="http://schemas.openxmlformats.org/drawingml/2006/main">
            <a:pPr>
              <a:defRPr sz="2025" b="0">
                <a:solidFill>
                  <a:srgbClr val="5C6D79"/>
                </a:solidFill>
                <a:latin typeface="Arial"/>
                <a:ea typeface="Arial"/>
                <a:cs typeface="Arial"/>
              </a:defRPr>
            </a:pPr>
            <a:r>
              <a:rPr sz="2025" b="0">
                <a:solidFill>
                  <a:srgbClr val="5C6D79"/>
                </a:solidFill>
                <a:latin typeface="Arial"/>
                <a:ea typeface="Arial"/>
                <a:cs typeface="Arial"/>
              </a:rPr>
              <a:t>Four monthly bins, uneven sampling</a:t>
            </a:r>
          </a:p>
        </p:txBody>
      </p:sp>
      <p:graphicFrame>
        <p:nvGraphicFramePr>
          <p:cNvPr id="5" name="Chart">
            <a:extLst xmlns:a="http://schemas.openxmlformats.org/drawingml/2006/main">
              <a:ext uri="{FF2B5EF4-FFF2-40B4-BE49-F238E27FC236}">
                <a16:creationId xmlns:a16="http://schemas.microsoft.com/office/drawing/2014/main" id="{957C876E-9CC5-4BAB-80A9-92C115A9841D}"/>
              </a:ext>
            </a:extLst>
          </p:cNvPr>
          <p:cNvGraphicFramePr/>
          <p:nvPr/>
        </p:nvGraphicFramePr>
        <p:xfrm>
          <a:off xmlns:a="http://schemas.openxmlformats.org/drawingml/2006/main" x="6477000" y="1714500"/>
          <a:ext xmlns:a="http://schemas.openxmlformats.org/drawingml/2006/main" cx="4857750" cy="3429000"/>
        </p:xfrm>
        <a:graphic xmlns:a="http://schemas.openxmlformats.org/drawingml/2006/main">
          <a:graphicData uri="http://schemas.openxmlformats.org/drawingml/2006/chart">
            <c:chart xmlns:r="http://schemas.openxmlformats.org/officeDocument/2006/relationships" xmlns:c="http://schemas.openxmlformats.org/drawingml/2006/chart" r:id="R70467f5795314e93"/>
          </a:graphicData>
        </a:graphic>
      </p:graphicFrame>
      <p:sp>
        <p:nvSpPr>
          <p:cNvPr id="6" name="">
            <a:extLst xmlns:a="http://schemas.openxmlformats.org/drawingml/2006/main">
              <a:ext uri="{FF2B5EF4-FFF2-40B4-BE49-F238E27FC236}">
                <a16:creationId xmlns:a16="http://schemas.microsoft.com/office/drawing/2014/main" id="{2D7CD81E-DE4A-46B6-8AEB-5DD7AA4FFDC4}"/>
              </a:ext>
            </a:extLst>
          </p:cNvPr>
          <p:cNvSpPr>
            <a:spLocks xmlns:a="http://schemas.openxmlformats.org/drawingml/2006/main" noGrp="1"/>
          </p:cNvSpPr>
          <p:nvPr/>
        </p:nvSpPr>
        <p:spPr>
          <a:xfrm xmlns:a="http://schemas.openxmlformats.org/drawingml/2006/main">
            <a:off x="6477000" y="547687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External benchmark only</a:t>
            </a:r>
          </a:p>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Corpus validation remains incomplete</a:t>
            </a:r>
          </a:p>
        </p:txBody>
      </p:sp>
    </p:spTree>
    <p:extLst>
      <p:ext uri="{BB962C8B-B14F-4D97-AF65-F5344CB8AC3E}">
        <p14:creationId xmlns:p14="http://schemas.microsoft.com/office/powerpoint/2010/main" val="10964958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D6296C-797D-480C-B811-775DF1A17864}"/>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Historical news sentiment adds no stable forecast gain</a:t>
            </a:r>
          </a:p>
        </p:txBody>
      </p:sp>
      <p:sp>
        <p:nvSpPr>
          <p:cNvPr id="2" name="">
            <a:extLst xmlns:a="http://schemas.openxmlformats.org/drawingml/2006/main">
              <a:ext uri="{FF2B5EF4-FFF2-40B4-BE49-F238E27FC236}">
                <a16:creationId xmlns:a16="http://schemas.microsoft.com/office/drawing/2014/main" id="{4CC19F71-59FA-46C9-9534-807C7670044F}"/>
              </a:ext>
            </a:extLst>
          </p:cNvPr>
          <p:cNvSpPr>
            <a:spLocks xmlns:a="http://schemas.openxmlformats.org/drawingml/2006/main" noGrp="1"/>
          </p:cNvSpPr>
          <p:nvPr/>
        </p:nvSpPr>
        <p:spPr>
          <a:xfrm xmlns:a="http://schemas.openxmlformats.org/drawingml/2006/main">
            <a:off x="762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Macro model with the news index</a:t>
            </a:r>
          </a:p>
        </p:txBody>
      </p:sp>
      <p:sp>
        <p:nvSpPr>
          <p:cNvPr id="3" name="">
            <a:extLst xmlns:a="http://schemas.openxmlformats.org/drawingml/2006/main">
              <a:ext uri="{FF2B5EF4-FFF2-40B4-BE49-F238E27FC236}">
                <a16:creationId xmlns:a16="http://schemas.microsoft.com/office/drawing/2014/main" id="{230688BB-861F-49D8-9B88-E5D2DB84D5EF}"/>
              </a:ext>
            </a:extLst>
          </p:cNvPr>
          <p:cNvSpPr>
            <a:spLocks xmlns:a="http://schemas.openxmlformats.org/drawingml/2006/main" noGrp="1"/>
          </p:cNvSpPr>
          <p:nvPr/>
        </p:nvSpPr>
        <p:spPr>
          <a:xfrm xmlns:a="http://schemas.openxmlformats.org/drawingml/2006/main">
            <a:off x="762000" y="240030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00867D"/>
                </a:solidFill>
                <a:latin typeface="Arial"/>
                <a:ea typeface="Arial"/>
                <a:cs typeface="Arial"/>
              </a:defRPr>
            </a:defPPr>
          </a:lstStyle>
          <a:p xmlns:a="http://schemas.openxmlformats.org/drawingml/2006/main">
            <a:pPr>
              <a:defRPr sz="4200" b="1">
                <a:solidFill>
                  <a:srgbClr val="00867D"/>
                </a:solidFill>
                <a:latin typeface="Arial"/>
                <a:ea typeface="Arial"/>
                <a:cs typeface="Arial"/>
              </a:defRPr>
            </a:pPr>
            <a:r>
              <a:rPr sz="4200" b="1">
                <a:solidFill>
                  <a:srgbClr val="00867D"/>
                </a:solidFill>
                <a:latin typeface="Arial"/>
                <a:ea typeface="Arial"/>
                <a:cs typeface="Arial"/>
              </a:rPr>
              <a:t>14.10 to 13.92</a:t>
            </a:r>
          </a:p>
        </p:txBody>
      </p:sp>
      <p:sp>
        <p:nvSpPr>
          <p:cNvPr id="4" name="">
            <a:extLst xmlns:a="http://schemas.openxmlformats.org/drawingml/2006/main">
              <a:ext uri="{FF2B5EF4-FFF2-40B4-BE49-F238E27FC236}">
                <a16:creationId xmlns:a16="http://schemas.microsoft.com/office/drawing/2014/main" id="{B3200742-C740-4466-86BB-BF575AC1671F}"/>
              </a:ext>
            </a:extLst>
          </p:cNvPr>
          <p:cNvSpPr>
            <a:spLocks xmlns:a="http://schemas.openxmlformats.org/drawingml/2006/main" noGrp="1"/>
          </p:cNvSpPr>
          <p:nvPr/>
        </p:nvSpPr>
        <p:spPr>
          <a:xfrm xmlns:a="http://schemas.openxmlformats.org/drawingml/2006/main">
            <a:off x="762000" y="37147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C6D79"/>
                </a:solidFill>
                <a:latin typeface="Arial"/>
                <a:ea typeface="Arial"/>
                <a:cs typeface="Arial"/>
              </a:defRPr>
            </a:defPPr>
          </a:lstStyle>
          <a:p xmlns:a="http://schemas.openxmlformats.org/drawingml/2006/main">
            <a:pPr>
              <a:defRPr sz="1950" b="0">
                <a:solidFill>
                  <a:srgbClr val="5C6D79"/>
                </a:solidFill>
                <a:latin typeface="Arial"/>
                <a:ea typeface="Arial"/>
                <a:cs typeface="Arial"/>
              </a:defRPr>
            </a:pPr>
            <a:r>
              <a:rPr sz="1950" b="0">
                <a:solidFill>
                  <a:srgbClr val="5C6D79"/>
                </a:solidFill>
                <a:latin typeface="Arial"/>
                <a:ea typeface="Arial"/>
                <a:cs typeface="Arial"/>
              </a:rPr>
              <a:t>RMSE in Michigan index points</a:t>
            </a:r>
          </a:p>
        </p:txBody>
      </p:sp>
      <p:sp>
        <p:nvSpPr>
          <p:cNvPr id="5" name="">
            <a:extLst xmlns:a="http://schemas.openxmlformats.org/drawingml/2006/main">
              <a:ext uri="{FF2B5EF4-FFF2-40B4-BE49-F238E27FC236}">
                <a16:creationId xmlns:a16="http://schemas.microsoft.com/office/drawing/2014/main" id="{9D228602-B80C-4779-BE27-EAF9AF6A7EA5}"/>
              </a:ext>
            </a:extLst>
          </p:cNvPr>
          <p:cNvSpPr>
            <a:spLocks xmlns:a="http://schemas.openxmlformats.org/drawingml/2006/main" noGrp="1"/>
          </p:cNvSpPr>
          <p:nvPr/>
        </p:nvSpPr>
        <p:spPr>
          <a:xfrm xmlns:a="http://schemas.openxmlformats.org/drawingml/2006/main">
            <a:off x="6477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Dynamic model with the news index</a:t>
            </a:r>
          </a:p>
        </p:txBody>
      </p:sp>
      <p:sp>
        <p:nvSpPr>
          <p:cNvPr id="6" name="">
            <a:extLst xmlns:a="http://schemas.openxmlformats.org/drawingml/2006/main">
              <a:ext uri="{FF2B5EF4-FFF2-40B4-BE49-F238E27FC236}">
                <a16:creationId xmlns:a16="http://schemas.microsoft.com/office/drawing/2014/main" id="{2A123E9A-5D67-440A-9A10-FA90B7FB1753}"/>
              </a:ext>
            </a:extLst>
          </p:cNvPr>
          <p:cNvSpPr>
            <a:spLocks xmlns:a="http://schemas.openxmlformats.org/drawingml/2006/main" noGrp="1"/>
          </p:cNvSpPr>
          <p:nvPr/>
        </p:nvSpPr>
        <p:spPr>
          <a:xfrm xmlns:a="http://schemas.openxmlformats.org/drawingml/2006/main">
            <a:off x="6477000" y="240030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B4533B"/>
                </a:solidFill>
                <a:latin typeface="Arial"/>
                <a:ea typeface="Arial"/>
                <a:cs typeface="Arial"/>
              </a:defRPr>
            </a:defPPr>
          </a:lstStyle>
          <a:p xmlns:a="http://schemas.openxmlformats.org/drawingml/2006/main">
            <a:pPr>
              <a:defRPr sz="4200" b="1">
                <a:solidFill>
                  <a:srgbClr val="B4533B"/>
                </a:solidFill>
                <a:latin typeface="Arial"/>
                <a:ea typeface="Arial"/>
                <a:cs typeface="Arial"/>
              </a:defRPr>
            </a:pPr>
            <a:r>
              <a:rPr sz="4200" b="1">
                <a:solidFill>
                  <a:srgbClr val="B4533B"/>
                </a:solidFill>
                <a:latin typeface="Arial"/>
                <a:ea typeface="Arial"/>
                <a:cs typeface="Arial"/>
              </a:rPr>
              <a:t>5.19 to 5.23</a:t>
            </a:r>
          </a:p>
        </p:txBody>
      </p:sp>
      <p:sp>
        <p:nvSpPr>
          <p:cNvPr id="7" name="">
            <a:extLst xmlns:a="http://schemas.openxmlformats.org/drawingml/2006/main">
              <a:ext uri="{FF2B5EF4-FFF2-40B4-BE49-F238E27FC236}">
                <a16:creationId xmlns:a16="http://schemas.microsoft.com/office/drawing/2014/main" id="{970476B9-2991-4CBA-BE77-90BD66065700}"/>
              </a:ext>
            </a:extLst>
          </p:cNvPr>
          <p:cNvSpPr>
            <a:spLocks xmlns:a="http://schemas.openxmlformats.org/drawingml/2006/main" noGrp="1"/>
          </p:cNvSpPr>
          <p:nvPr/>
        </p:nvSpPr>
        <p:spPr>
          <a:xfrm xmlns:a="http://schemas.openxmlformats.org/drawingml/2006/main">
            <a:off x="6477000" y="37147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C6D79"/>
                </a:solidFill>
                <a:latin typeface="Arial"/>
                <a:ea typeface="Arial"/>
                <a:cs typeface="Arial"/>
              </a:defRPr>
            </a:defPPr>
          </a:lstStyle>
          <a:p xmlns:a="http://schemas.openxmlformats.org/drawingml/2006/main">
            <a:pPr>
              <a:defRPr sz="1950" b="0">
                <a:solidFill>
                  <a:srgbClr val="5C6D79"/>
                </a:solidFill>
                <a:latin typeface="Arial"/>
                <a:ea typeface="Arial"/>
                <a:cs typeface="Arial"/>
              </a:defRPr>
            </a:pPr>
            <a:r>
              <a:rPr sz="1950" b="0">
                <a:solidFill>
                  <a:srgbClr val="5C6D79"/>
                </a:solidFill>
                <a:latin typeface="Arial"/>
                <a:ea typeface="Arial"/>
                <a:cs typeface="Arial"/>
              </a:rPr>
              <a:t>RMSE in Michigan index points</a:t>
            </a:r>
          </a:p>
        </p:txBody>
      </p:sp>
      <p:sp>
        <p:nvSpPr>
          <p:cNvPr id="8" name="">
            <a:extLst xmlns:a="http://schemas.openxmlformats.org/drawingml/2006/main">
              <a:ext uri="{FF2B5EF4-FFF2-40B4-BE49-F238E27FC236}">
                <a16:creationId xmlns:a16="http://schemas.microsoft.com/office/drawing/2014/main" id="{7EDE0DD8-2302-4470-BC30-2C5603E85465}"/>
              </a:ext>
            </a:extLst>
          </p:cNvPr>
          <p:cNvSpPr>
            <a:spLocks xmlns:a="http://schemas.openxmlformats.org/drawingml/2006/main" noGrp="1"/>
          </p:cNvSpPr>
          <p:nvPr/>
        </p:nvSpPr>
        <p:spPr>
          <a:xfrm xmlns:a="http://schemas.openxmlformats.org/drawingml/2006/main">
            <a:off x="762000" y="5095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C6D79"/>
                </a:solidFill>
                <a:latin typeface="Arial"/>
                <a:ea typeface="Arial"/>
                <a:cs typeface="Arial"/>
              </a:defRPr>
            </a:defPPr>
          </a:lstStyle>
          <a:p xmlns:a="http://schemas.openxmlformats.org/drawingml/2006/main">
            <a:pPr>
              <a:defRPr sz="2175" b="0">
                <a:solidFill>
                  <a:srgbClr val="5C6D79"/>
                </a:solidFill>
                <a:latin typeface="Arial"/>
                <a:ea typeface="Arial"/>
                <a:cs typeface="Arial"/>
              </a:defRPr>
            </a:pPr>
            <a:r>
              <a:rPr sz="2175" b="0">
                <a:solidFill>
                  <a:srgbClr val="5C6D79"/>
                </a:solidFill>
                <a:latin typeface="Arial"/>
                <a:ea typeface="Arial"/>
                <a:cs typeface="Arial"/>
              </a:rPr>
              <a:t>Retrospective comparison only. Historical news-index vintages</a:t>
            </a:r>
          </a:p>
          <a:p xmlns:a="http://schemas.openxmlformats.org/drawingml/2006/main">
            <a:pPr>
              <a:defRPr sz="2175" b="0">
                <a:solidFill>
                  <a:srgbClr val="5C6D79"/>
                </a:solidFill>
                <a:latin typeface="Arial"/>
                <a:ea typeface="Arial"/>
                <a:cs typeface="Arial"/>
              </a:defRPr>
            </a:pPr>
            <a:r>
              <a:rPr sz="2175" b="0">
                <a:solidFill>
                  <a:srgbClr val="5C6D79"/>
                </a:solidFill>
                <a:latin typeface="Arial"/>
                <a:ea typeface="Arial"/>
                <a:cs typeface="Arial"/>
              </a:rPr>
              <a:t>and respondent exposure were not recovered.</a:t>
            </a:r>
          </a:p>
        </p:txBody>
      </p:sp>
    </p:spTree>
    <p:extLst>
      <p:ext uri="{BB962C8B-B14F-4D97-AF65-F5344CB8AC3E}">
        <p14:creationId xmlns:p14="http://schemas.microsoft.com/office/powerpoint/2010/main" val="1553543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AA246C-DD4F-4251-8BD8-38532AF8D47F}"/>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Financial monitoring should expose model uncertainty</a:t>
            </a:r>
          </a:p>
        </p:txBody>
      </p:sp>
      <p:sp>
        <p:nvSpPr>
          <p:cNvPr id="2" name="">
            <a:extLst xmlns:a="http://schemas.openxmlformats.org/drawingml/2006/main">
              <a:ext uri="{FF2B5EF4-FFF2-40B4-BE49-F238E27FC236}">
                <a16:creationId xmlns:a16="http://schemas.microsoft.com/office/drawing/2014/main" id="{E49F467F-E3E3-496D-9614-A8A568E404A4}"/>
              </a:ext>
            </a:extLst>
          </p:cNvPr>
          <p:cNvSpPr>
            <a:spLocks xmlns:a="http://schemas.openxmlformats.org/drawingml/2006/main" noGrp="1"/>
          </p:cNvSpPr>
          <p:nvPr/>
        </p:nvSpPr>
        <p:spPr>
          <a:xfrm xmlns:a="http://schemas.openxmlformats.org/drawingml/2006/main">
            <a:off x="762000" y="1762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67D"/>
                </a:solidFill>
                <a:latin typeface="Arial"/>
                <a:ea typeface="Arial"/>
                <a:cs typeface="Arial"/>
              </a:defRPr>
            </a:defPPr>
          </a:lstStyle>
          <a:p xmlns:a="http://schemas.openxmlformats.org/drawingml/2006/main">
            <a:pPr>
              <a:defRPr sz="2925" b="1">
                <a:solidFill>
                  <a:srgbClr val="00867D"/>
                </a:solidFill>
                <a:latin typeface="Arial"/>
                <a:ea typeface="Arial"/>
                <a:cs typeface="Arial"/>
              </a:defRPr>
            </a:pPr>
            <a:r>
              <a:rPr sz="2925" b="1">
                <a:solidFill>
                  <a:srgbClr val="00867D"/>
                </a:solidFill>
                <a:latin typeface="Arial"/>
                <a:ea typeface="Arial"/>
                <a:cs typeface="Arial"/>
              </a:rPr>
              <a:t>Benchmark the residual</a:t>
            </a:r>
          </a:p>
        </p:txBody>
      </p:sp>
      <p:sp>
        <p:nvSpPr>
          <p:cNvPr id="3" name="">
            <a:extLst xmlns:a="http://schemas.openxmlformats.org/drawingml/2006/main">
              <a:ext uri="{FF2B5EF4-FFF2-40B4-BE49-F238E27FC236}">
                <a16:creationId xmlns:a16="http://schemas.microsoft.com/office/drawing/2014/main" id="{C658D0A5-5718-4BA4-ABF7-65C05A342BE0}"/>
              </a:ext>
            </a:extLst>
          </p:cNvPr>
          <p:cNvSpPr>
            <a:spLocks xmlns:a="http://schemas.openxmlformats.org/drawingml/2006/main" noGrp="1"/>
          </p:cNvSpPr>
          <p:nvPr/>
        </p:nvSpPr>
        <p:spPr>
          <a:xfrm xmlns:a="http://schemas.openxmlformats.org/drawingml/2006/main">
            <a:off x="762000" y="2619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54E"/>
                </a:solidFill>
                <a:latin typeface="Arial"/>
                <a:ea typeface="Arial"/>
                <a:cs typeface="Arial"/>
              </a:defRPr>
            </a:defPPr>
          </a:lstStyle>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Persistence beats the economic-only model in the historical test.</a:t>
            </a:r>
          </a:p>
        </p:txBody>
      </p:sp>
      <p:sp>
        <p:nvSpPr>
          <p:cNvPr id="4" name="">
            <a:extLst xmlns:a="http://schemas.openxmlformats.org/drawingml/2006/main">
              <a:ext uri="{FF2B5EF4-FFF2-40B4-BE49-F238E27FC236}">
                <a16:creationId xmlns:a16="http://schemas.microsoft.com/office/drawing/2014/main" id="{25E2672E-F32B-4AA7-89B7-97E61602F8A3}"/>
              </a:ext>
            </a:extLst>
          </p:cNvPr>
          <p:cNvSpPr>
            <a:spLocks xmlns:a="http://schemas.openxmlformats.org/drawingml/2006/main" noGrp="1"/>
          </p:cNvSpPr>
          <p:nvPr/>
        </p:nvSpPr>
        <p:spPr>
          <a:xfrm xmlns:a="http://schemas.openxmlformats.org/drawingml/2006/main">
            <a:off x="762000" y="3714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67D"/>
                </a:solidFill>
                <a:latin typeface="Arial"/>
                <a:ea typeface="Arial"/>
                <a:cs typeface="Arial"/>
              </a:defRPr>
            </a:defPPr>
          </a:lstStyle>
          <a:p xmlns:a="http://schemas.openxmlformats.org/drawingml/2006/main">
            <a:pPr>
              <a:defRPr sz="2925" b="1">
                <a:solidFill>
                  <a:srgbClr val="00867D"/>
                </a:solidFill>
                <a:latin typeface="Arial"/>
                <a:ea typeface="Arial"/>
                <a:cs typeface="Arial"/>
              </a:defRPr>
            </a:pPr>
            <a:r>
              <a:rPr sz="2925" b="1">
                <a:solidFill>
                  <a:srgbClr val="00867D"/>
                </a:solidFill>
                <a:latin typeface="Arial"/>
                <a:ea typeface="Arial"/>
                <a:cs typeface="Arial"/>
              </a:rPr>
              <a:t>Show the interval and input dates</a:t>
            </a:r>
          </a:p>
        </p:txBody>
      </p:sp>
      <p:sp>
        <p:nvSpPr>
          <p:cNvPr id="5" name="">
            <a:extLst xmlns:a="http://schemas.openxmlformats.org/drawingml/2006/main">
              <a:ext uri="{FF2B5EF4-FFF2-40B4-BE49-F238E27FC236}">
                <a16:creationId xmlns:a16="http://schemas.microsoft.com/office/drawing/2014/main" id="{AB7C8F58-8804-4FE6-A1C2-F8196CA1D7FB}"/>
              </a:ext>
            </a:extLst>
          </p:cNvPr>
          <p:cNvSpPr>
            <a:spLocks xmlns:a="http://schemas.openxmlformats.org/drawingml/2006/main" noGrp="1"/>
          </p:cNvSpPr>
          <p:nvPr/>
        </p:nvSpPr>
        <p:spPr>
          <a:xfrm xmlns:a="http://schemas.openxmlformats.org/drawingml/2006/main">
            <a:off x="762000" y="4572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54E"/>
                </a:solidFill>
                <a:latin typeface="Arial"/>
                <a:ea typeface="Arial"/>
                <a:cs typeface="Arial"/>
              </a:defRPr>
            </a:defPPr>
          </a:lstStyle>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The October gap changes from -26.55 to -6.81 across specifications.</a:t>
            </a:r>
          </a:p>
        </p:txBody>
      </p:sp>
      <p:sp>
        <p:nvSpPr>
          <p:cNvPr id="6" name="">
            <a:extLst xmlns:a="http://schemas.openxmlformats.org/drawingml/2006/main">
              <a:ext uri="{FF2B5EF4-FFF2-40B4-BE49-F238E27FC236}">
                <a16:creationId xmlns:a16="http://schemas.microsoft.com/office/drawing/2014/main" id="{C9A3CFAF-95B1-4827-9AA4-39A255D84DAB}"/>
              </a:ext>
            </a:extLst>
          </p:cNvPr>
          <p:cNvSpPr>
            <a:spLocks xmlns:a="http://schemas.openxmlformats.org/drawingml/2006/main" noGrp="1"/>
          </p:cNvSpPr>
          <p:nvPr/>
        </p:nvSpPr>
        <p:spPr>
          <a:xfrm xmlns:a="http://schemas.openxmlformats.org/drawingml/2006/main">
            <a:off x="762000" y="5762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Next releases: sentiment 23 October, GDP and PCE 29 October.</a:t>
            </a:r>
          </a:p>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The media pilot provides no established causal effect.</a:t>
            </a:r>
          </a:p>
        </p:txBody>
      </p:sp>
    </p:spTree>
    <p:extLst>
      <p:ext uri="{BB962C8B-B14F-4D97-AF65-F5344CB8AC3E}">
        <p14:creationId xmlns:p14="http://schemas.microsoft.com/office/powerpoint/2010/main" val="169171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2026-10-15T01:24:36.7430000Z</dcterms:created>
  <dcterms:modified xsi:type="dcterms:W3CDTF">2026-10-15T01:24:36.7440000Z</dcterms:modified>
</coreProperties>
</file>